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4" r:id="rId9"/>
    <p:sldId id="265" r:id="rId10"/>
  </p:sldIdLst>
  <p:sldSz cx="14630400" cy="8229600"/>
  <p:notesSz cx="8229600" cy="14630400"/>
  <p:embeddedFontLst>
    <p:embeddedFont>
      <p:font typeface="Aptos" panose="020B0004020202020204" pitchFamily="34" charset="0"/>
      <p:regular r:id="rId12"/>
      <p:bold r:id="rId13"/>
      <p:italic r:id="rId14"/>
      <p:boldItalic r:id="rId15"/>
    </p:embeddedFont>
    <p:embeddedFont>
      <p:font typeface="Calibri" panose="020F0502020204030204" pitchFamily="34" charset="0"/>
      <p:regular r:id="rId16"/>
      <p:bold r:id="rId17"/>
      <p:italic r:id="rId18"/>
      <p:boldItalic r:id="rId19"/>
    </p:embeddedFont>
    <p:embeddedFont>
      <p:font typeface="Instrument Sans Medium" panose="020B0604020202020204" charset="0"/>
      <p:regular r:id="rId20"/>
    </p:embeddedFont>
    <p:embeddedFont>
      <p:font typeface="Inter" panose="020B0604020202020204" charset="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3" d="100"/>
          <a:sy n="73" d="100"/>
        </p:scale>
        <p:origin x="29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10.fntdata"/><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565525" cy="7334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660900" y="0"/>
            <a:ext cx="3567113" cy="733425"/>
          </a:xfrm>
          <a:prstGeom prst="rect">
            <a:avLst/>
          </a:prstGeom>
        </p:spPr>
        <p:txBody>
          <a:bodyPr vert="horz" lIns="91440" tIns="45720" rIns="91440" bIns="45720" rtlCol="0"/>
          <a:lstStyle>
            <a:lvl1pPr algn="r">
              <a:defRPr sz="1200"/>
            </a:lvl1pPr>
          </a:lstStyle>
          <a:p>
            <a:fld id="{EC3EEF6F-04F9-E147-ABCE-A8CD6E74A4EA}" type="datetimeFigureOut">
              <a:rPr lang="en-US" smtClean="0"/>
              <a:t>3/29/2026</a:t>
            </a:fld>
            <a:endParaRPr lang="en-US"/>
          </a:p>
        </p:txBody>
      </p:sp>
      <p:sp>
        <p:nvSpPr>
          <p:cNvPr id="4" name="Slide Image Placeholder 3"/>
          <p:cNvSpPr>
            <a:spLocks noGrp="1" noRot="1" noChangeAspect="1"/>
          </p:cNvSpPr>
          <p:nvPr>
            <p:ph type="sldImg" idx="2"/>
          </p:nvPr>
        </p:nvSpPr>
        <p:spPr>
          <a:xfrm>
            <a:off x="-273050" y="1828800"/>
            <a:ext cx="8775700" cy="49371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822325" y="7040563"/>
            <a:ext cx="6584950" cy="5761037"/>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13896975"/>
            <a:ext cx="3565525" cy="73342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660900" y="13896975"/>
            <a:ext cx="3567113" cy="733425"/>
          </a:xfrm>
          <a:prstGeom prst="rect">
            <a:avLst/>
          </a:prstGeom>
        </p:spPr>
        <p:txBody>
          <a:bodyPr vert="horz" lIns="91440" tIns="45720" rIns="91440" bIns="45720" rtlCol="0" anchor="b"/>
          <a:lstStyle>
            <a:lvl1pPr algn="r">
              <a:defRPr sz="1200"/>
            </a:lvl1pPr>
          </a:lstStyle>
          <a:p>
            <a:fld id="{FFD45716-1819-A14B-BC2F-C1E5DBCB6D72}" type="slidenum">
              <a:rPr lang="en-US" smtClean="0"/>
              <a:t>‹#›</a:t>
            </a:fld>
            <a:endParaRPr lang="en-US"/>
          </a:p>
        </p:txBody>
      </p:sp>
    </p:spTree>
    <p:extLst>
      <p:ext uri="{BB962C8B-B14F-4D97-AF65-F5344CB8AC3E}">
        <p14:creationId xmlns:p14="http://schemas.microsoft.com/office/powerpoint/2010/main" val="4701729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719"/>
          </a:solidFill>
          <a:ln/>
        </p:spPr>
      </p:sp>
      <p:sp>
        <p:nvSpPr>
          <p:cNvPr id="3" name="Shape 1"/>
          <p:cNvSpPr/>
          <p:nvPr/>
        </p:nvSpPr>
        <p:spPr>
          <a:xfrm>
            <a:off x="0" y="0"/>
            <a:ext cx="14630400" cy="8229600"/>
          </a:xfrm>
          <a:prstGeom prst="rect">
            <a:avLst/>
          </a:prstGeom>
          <a:solidFill>
            <a:srgbClr val="242429"/>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719"/>
          </a:solidFill>
          <a:ln/>
        </p:spPr>
      </p:sp>
      <p:sp>
        <p:nvSpPr>
          <p:cNvPr id="3" name="Shape 1"/>
          <p:cNvSpPr/>
          <p:nvPr/>
        </p:nvSpPr>
        <p:spPr>
          <a:xfrm>
            <a:off x="0" y="0"/>
            <a:ext cx="14630400" cy="8229600"/>
          </a:xfrm>
          <a:prstGeom prst="rect">
            <a:avLst/>
          </a:prstGeom>
          <a:solidFill>
            <a:srgbClr val="242429"/>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719"/>
          </a:solidFill>
          <a:ln/>
        </p:spPr>
      </p:sp>
      <p:sp>
        <p:nvSpPr>
          <p:cNvPr id="3" name="Shape 1"/>
          <p:cNvSpPr/>
          <p:nvPr/>
        </p:nvSpPr>
        <p:spPr>
          <a:xfrm>
            <a:off x="0" y="0"/>
            <a:ext cx="14630400" cy="8229600"/>
          </a:xfrm>
          <a:prstGeom prst="rect">
            <a:avLst/>
          </a:prstGeom>
          <a:solidFill>
            <a:srgbClr val="242429"/>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719"/>
          </a:solidFill>
          <a:ln/>
        </p:spPr>
      </p:sp>
      <p:sp>
        <p:nvSpPr>
          <p:cNvPr id="3" name="Shape 1"/>
          <p:cNvSpPr/>
          <p:nvPr/>
        </p:nvSpPr>
        <p:spPr>
          <a:xfrm>
            <a:off x="0" y="0"/>
            <a:ext cx="14630400" cy="8229600"/>
          </a:xfrm>
          <a:prstGeom prst="rect">
            <a:avLst/>
          </a:prstGeom>
          <a:solidFill>
            <a:srgbClr val="242429"/>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719"/>
          </a:solidFill>
          <a:ln/>
        </p:spPr>
      </p:sp>
      <p:sp>
        <p:nvSpPr>
          <p:cNvPr id="3" name="Shape 1"/>
          <p:cNvSpPr/>
          <p:nvPr/>
        </p:nvSpPr>
        <p:spPr>
          <a:xfrm>
            <a:off x="0" y="0"/>
            <a:ext cx="14630400" cy="8229600"/>
          </a:xfrm>
          <a:prstGeom prst="rect">
            <a:avLst/>
          </a:prstGeom>
          <a:solidFill>
            <a:srgbClr val="242429"/>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719"/>
          </a:solidFill>
          <a:ln/>
        </p:spPr>
      </p:sp>
      <p:sp>
        <p:nvSpPr>
          <p:cNvPr id="3" name="Shape 1"/>
          <p:cNvSpPr/>
          <p:nvPr/>
        </p:nvSpPr>
        <p:spPr>
          <a:xfrm>
            <a:off x="0" y="0"/>
            <a:ext cx="14630400" cy="8229600"/>
          </a:xfrm>
          <a:prstGeom prst="rect">
            <a:avLst/>
          </a:prstGeom>
          <a:solidFill>
            <a:srgbClr val="242429"/>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719"/>
          </a:solidFill>
          <a:ln/>
        </p:spPr>
      </p:sp>
      <p:sp>
        <p:nvSpPr>
          <p:cNvPr id="3" name="Shape 1"/>
          <p:cNvSpPr/>
          <p:nvPr/>
        </p:nvSpPr>
        <p:spPr>
          <a:xfrm>
            <a:off x="0" y="0"/>
            <a:ext cx="14630400" cy="8229600"/>
          </a:xfrm>
          <a:prstGeom prst="rect">
            <a:avLst/>
          </a:prstGeom>
          <a:solidFill>
            <a:srgbClr val="242429"/>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719"/>
          </a:solidFill>
          <a:ln/>
        </p:spPr>
      </p:sp>
      <p:sp>
        <p:nvSpPr>
          <p:cNvPr id="3" name="Shape 1"/>
          <p:cNvSpPr/>
          <p:nvPr/>
        </p:nvSpPr>
        <p:spPr>
          <a:xfrm>
            <a:off x="0" y="0"/>
            <a:ext cx="14630400" cy="8229600"/>
          </a:xfrm>
          <a:prstGeom prst="rect">
            <a:avLst/>
          </a:prstGeom>
          <a:solidFill>
            <a:srgbClr val="242429"/>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719"/>
          </a:solidFill>
          <a:ln/>
        </p:spPr>
      </p:sp>
      <p:sp>
        <p:nvSpPr>
          <p:cNvPr id="3" name="Shape 1"/>
          <p:cNvSpPr/>
          <p:nvPr/>
        </p:nvSpPr>
        <p:spPr>
          <a:xfrm>
            <a:off x="0" y="0"/>
            <a:ext cx="14630400" cy="8229600"/>
          </a:xfrm>
          <a:prstGeom prst="rect">
            <a:avLst/>
          </a:prstGeom>
          <a:solidFill>
            <a:srgbClr val="242429"/>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719"/>
          </a:solidFill>
          <a:ln/>
        </p:spPr>
      </p:sp>
      <p:sp>
        <p:nvSpPr>
          <p:cNvPr id="3" name="Shape 1"/>
          <p:cNvSpPr/>
          <p:nvPr/>
        </p:nvSpPr>
        <p:spPr>
          <a:xfrm>
            <a:off x="0" y="0"/>
            <a:ext cx="14630400" cy="8229600"/>
          </a:xfrm>
          <a:prstGeom prst="rect">
            <a:avLst/>
          </a:prstGeom>
          <a:solidFill>
            <a:srgbClr val="242429"/>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0.xml"/><Relationship Id="rId6" Type="http://schemas.openxmlformats.org/officeDocument/2006/relationships/image" Target="../media/image11.png"/><Relationship Id="rId5" Type="http://schemas.openxmlformats.org/officeDocument/2006/relationships/image" Target="../media/image4.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1.xml"/><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793790" y="2872978"/>
            <a:ext cx="7556421" cy="1417558"/>
          </a:xfrm>
          <a:prstGeom prst="rect">
            <a:avLst/>
          </a:prstGeom>
          <a:noFill/>
          <a:ln/>
        </p:spPr>
        <p:txBody>
          <a:bodyPr wrap="square" lIns="0" tIns="0" rIns="0" bIns="0" rtlCol="0" anchor="t"/>
          <a:lstStyle/>
          <a:p>
            <a:pPr marL="0" indent="0" algn="l">
              <a:lnSpc>
                <a:spcPts val="5550"/>
              </a:lnSpc>
              <a:buNone/>
            </a:pPr>
            <a:r>
              <a:rPr lang="en-US" sz="4450" dirty="0">
                <a:solidFill>
                  <a:schemeClr val="bg1"/>
                </a:solidFill>
                <a:latin typeface="Times New Roman" panose="02020603050405020304" pitchFamily="18" charset="0"/>
                <a:ea typeface="Instrument Sans Medium" pitchFamily="34" charset="-122"/>
                <a:cs typeface="Times New Roman" panose="02020603050405020304" pitchFamily="18" charset="0"/>
              </a:rPr>
              <a:t>Heart Disease Prediction Using Machine Learning</a:t>
            </a:r>
            <a:endParaRPr lang="en-US" sz="4450" dirty="0">
              <a:solidFill>
                <a:schemeClr val="bg1"/>
              </a:solidFill>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140A5FDC-3066-26AD-6A4B-B6774536BD07}"/>
              </a:ext>
            </a:extLst>
          </p:cNvPr>
          <p:cNvPicPr>
            <a:picLocks noChangeAspect="1"/>
          </p:cNvPicPr>
          <p:nvPr/>
        </p:nvPicPr>
        <p:blipFill rotWithShape="1">
          <a:blip r:embed="rId3"/>
          <a:srcRect t="933"/>
          <a:stretch/>
        </p:blipFill>
        <p:spPr>
          <a:xfrm>
            <a:off x="9604691" y="0"/>
            <a:ext cx="5025710" cy="82296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683425"/>
            <a:ext cx="8846582" cy="708779"/>
          </a:xfrm>
          <a:prstGeom prst="rect">
            <a:avLst/>
          </a:prstGeom>
          <a:noFill/>
          <a:ln/>
        </p:spPr>
        <p:txBody>
          <a:bodyPr wrap="none" lIns="0" tIns="0" rIns="0" bIns="0" rtlCol="0" anchor="t"/>
          <a:lstStyle/>
          <a:p>
            <a:pPr marL="0" indent="0" algn="l">
              <a:lnSpc>
                <a:spcPts val="5550"/>
              </a:lnSpc>
              <a:buNone/>
            </a:pPr>
            <a:r>
              <a:rPr lang="en-US" sz="4450" dirty="0">
                <a:solidFill>
                  <a:schemeClr val="bg1"/>
                </a:solidFill>
                <a:latin typeface="Times New Roman" panose="02020603050405020304" pitchFamily="18" charset="0"/>
                <a:ea typeface="Instrument Sans Medium" pitchFamily="34" charset="-122"/>
                <a:cs typeface="Times New Roman" panose="02020603050405020304" pitchFamily="18" charset="0"/>
              </a:rPr>
              <a:t>The Critical Healthcare Challenge</a:t>
            </a:r>
            <a:endParaRPr lang="en-US" sz="4450" dirty="0">
              <a:solidFill>
                <a:schemeClr val="bg1"/>
              </a:solidFill>
              <a:latin typeface="Times New Roman" panose="02020603050405020304" pitchFamily="18" charset="0"/>
              <a:cs typeface="Times New Roman" panose="02020603050405020304" pitchFamily="18" charset="0"/>
            </a:endParaRPr>
          </a:p>
        </p:txBody>
      </p:sp>
      <p:pic>
        <p:nvPicPr>
          <p:cNvPr id="3" name="Image 0" descr="preencoded.png"/>
          <p:cNvPicPr>
            <a:picLocks noChangeAspect="1"/>
          </p:cNvPicPr>
          <p:nvPr/>
        </p:nvPicPr>
        <p:blipFill>
          <a:blip r:embed="rId3"/>
          <a:stretch>
            <a:fillRect/>
          </a:stretch>
        </p:blipFill>
        <p:spPr>
          <a:xfrm>
            <a:off x="793790" y="2987516"/>
            <a:ext cx="6244709" cy="3303389"/>
          </a:xfrm>
          <a:prstGeom prst="rect">
            <a:avLst/>
          </a:prstGeom>
        </p:spPr>
      </p:pic>
      <p:sp>
        <p:nvSpPr>
          <p:cNvPr id="4" name="Text 1"/>
          <p:cNvSpPr/>
          <p:nvPr/>
        </p:nvSpPr>
        <p:spPr>
          <a:xfrm>
            <a:off x="7599521" y="2936438"/>
            <a:ext cx="6244709" cy="1088708"/>
          </a:xfrm>
          <a:prstGeom prst="rect">
            <a:avLst/>
          </a:prstGeom>
          <a:noFill/>
          <a:ln/>
        </p:spPr>
        <p:txBody>
          <a:bodyPr wrap="square" lIns="0" tIns="0" rIns="0" bIns="0" rtlCol="0" anchor="t"/>
          <a:lstStyle/>
          <a:p>
            <a:pPr marL="0" indent="0" algn="l">
              <a:lnSpc>
                <a:spcPts val="2850"/>
              </a:lnSpc>
              <a:buNone/>
            </a:pPr>
            <a:r>
              <a:rPr lang="en-US" sz="1750" dirty="0">
                <a:solidFill>
                  <a:schemeClr val="tx2">
                    <a:lumMod val="20000"/>
                    <a:lumOff val="80000"/>
                  </a:schemeClr>
                </a:solidFill>
                <a:latin typeface="Times New Roman" panose="02020603050405020304" pitchFamily="18" charset="0"/>
                <a:ea typeface="Inter" pitchFamily="34" charset="-122"/>
                <a:cs typeface="Times New Roman" panose="02020603050405020304" pitchFamily="18" charset="0"/>
              </a:rPr>
              <a:t>Cardiovascular disease remains the leading global cause of mortality, claiming 17.9 million lives annually according to WHO data.</a:t>
            </a:r>
            <a:endParaRPr lang="en-US" sz="1750" dirty="0">
              <a:solidFill>
                <a:schemeClr val="tx2">
                  <a:lumMod val="20000"/>
                  <a:lumOff val="80000"/>
                </a:schemeClr>
              </a:solidFill>
              <a:latin typeface="Times New Roman" panose="02020603050405020304" pitchFamily="18" charset="0"/>
              <a:cs typeface="Times New Roman" panose="02020603050405020304" pitchFamily="18" charset="0"/>
            </a:endParaRPr>
          </a:p>
        </p:txBody>
      </p:sp>
      <p:sp>
        <p:nvSpPr>
          <p:cNvPr id="5" name="Text 2"/>
          <p:cNvSpPr/>
          <p:nvPr/>
        </p:nvSpPr>
        <p:spPr>
          <a:xfrm>
            <a:off x="7599521" y="4229219"/>
            <a:ext cx="6244709" cy="1088708"/>
          </a:xfrm>
          <a:prstGeom prst="rect">
            <a:avLst/>
          </a:prstGeom>
          <a:noFill/>
          <a:ln/>
        </p:spPr>
        <p:txBody>
          <a:bodyPr wrap="square" lIns="0" tIns="0" rIns="0" bIns="0" rtlCol="0" anchor="t"/>
          <a:lstStyle/>
          <a:p>
            <a:pPr marL="0" indent="0" algn="l">
              <a:lnSpc>
                <a:spcPts val="2850"/>
              </a:lnSpc>
              <a:buNone/>
            </a:pPr>
            <a:r>
              <a:rPr lang="en-US" sz="1750" dirty="0">
                <a:solidFill>
                  <a:schemeClr val="tx2">
                    <a:lumMod val="20000"/>
                    <a:lumOff val="80000"/>
                  </a:schemeClr>
                </a:solidFill>
                <a:latin typeface="Times New Roman" panose="02020603050405020304" pitchFamily="18" charset="0"/>
                <a:ea typeface="Inter" pitchFamily="34" charset="-122"/>
                <a:cs typeface="Times New Roman" panose="02020603050405020304" pitchFamily="18" charset="0"/>
              </a:rPr>
              <a:t>Traditional diagnostic methods are resource-intensive, requiring specialist expertise and expensive equipment often unavailable in rural communities.</a:t>
            </a:r>
            <a:endParaRPr lang="en-US" sz="1750" dirty="0">
              <a:solidFill>
                <a:schemeClr val="tx2">
                  <a:lumMod val="20000"/>
                  <a:lumOff val="80000"/>
                </a:schemeClr>
              </a:solidFill>
              <a:latin typeface="Times New Roman" panose="02020603050405020304" pitchFamily="18" charset="0"/>
              <a:cs typeface="Times New Roman" panose="02020603050405020304" pitchFamily="18" charset="0"/>
            </a:endParaRPr>
          </a:p>
        </p:txBody>
      </p:sp>
      <p:sp>
        <p:nvSpPr>
          <p:cNvPr id="6" name="Text 3"/>
          <p:cNvSpPr/>
          <p:nvPr/>
        </p:nvSpPr>
        <p:spPr>
          <a:xfrm>
            <a:off x="7599521" y="5522000"/>
            <a:ext cx="6244709" cy="725805"/>
          </a:xfrm>
          <a:prstGeom prst="rect">
            <a:avLst/>
          </a:prstGeom>
          <a:noFill/>
          <a:ln/>
        </p:spPr>
        <p:txBody>
          <a:bodyPr wrap="square" lIns="0" tIns="0" rIns="0" bIns="0" rtlCol="0" anchor="t"/>
          <a:lstStyle/>
          <a:p>
            <a:pPr marL="0" indent="0" algn="l">
              <a:lnSpc>
                <a:spcPts val="2850"/>
              </a:lnSpc>
              <a:buNone/>
            </a:pPr>
            <a:r>
              <a:rPr lang="en-US" sz="1750" dirty="0">
                <a:solidFill>
                  <a:schemeClr val="tx2">
                    <a:lumMod val="20000"/>
                    <a:lumOff val="80000"/>
                  </a:schemeClr>
                </a:solidFill>
                <a:latin typeface="Times New Roman" panose="02020603050405020304" pitchFamily="18" charset="0"/>
                <a:ea typeface="Inter" pitchFamily="34" charset="-122"/>
                <a:cs typeface="Times New Roman" panose="02020603050405020304" pitchFamily="18" charset="0"/>
              </a:rPr>
              <a:t>Early detection through accessible screening tools could dramatically reduce mortality rates and healthcare costs.</a:t>
            </a:r>
            <a:endParaRPr lang="en-US" sz="1750" dirty="0">
              <a:solidFill>
                <a:schemeClr val="tx2">
                  <a:lumMod val="20000"/>
                  <a:lumOff val="80000"/>
                </a:schemeClr>
              </a:solidFill>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F46CFD46-9DE0-BEB8-8620-1B5E4933ADAE}"/>
              </a:ext>
            </a:extLst>
          </p:cNvPr>
          <p:cNvPicPr>
            <a:picLocks noChangeAspect="1"/>
          </p:cNvPicPr>
          <p:nvPr/>
        </p:nvPicPr>
        <p:blipFill>
          <a:blip r:embed="rId4"/>
          <a:stretch>
            <a:fillRect/>
          </a:stretch>
        </p:blipFill>
        <p:spPr>
          <a:xfrm>
            <a:off x="12683388" y="7713749"/>
            <a:ext cx="1876687" cy="40010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750338"/>
            <a:ext cx="6605349" cy="708779"/>
          </a:xfrm>
          <a:prstGeom prst="rect">
            <a:avLst/>
          </a:prstGeom>
          <a:noFill/>
          <a:ln/>
        </p:spPr>
        <p:txBody>
          <a:bodyPr wrap="none" lIns="0" tIns="0" rIns="0" bIns="0" rtlCol="0" anchor="t"/>
          <a:lstStyle/>
          <a:p>
            <a:pPr marL="0" indent="0" algn="l">
              <a:lnSpc>
                <a:spcPts val="5550"/>
              </a:lnSpc>
              <a:buNone/>
            </a:pPr>
            <a:r>
              <a:rPr lang="en-US" sz="4450" dirty="0">
                <a:solidFill>
                  <a:schemeClr val="bg1"/>
                </a:solidFill>
                <a:latin typeface="Times New Roman" panose="02020603050405020304" pitchFamily="18" charset="0"/>
                <a:ea typeface="Instrument Sans Medium" pitchFamily="34" charset="-122"/>
                <a:cs typeface="Times New Roman" panose="02020603050405020304" pitchFamily="18" charset="0"/>
              </a:rPr>
              <a:t>Our Mission &amp; Objectives</a:t>
            </a:r>
            <a:endParaRPr lang="en-US" sz="4450" dirty="0">
              <a:solidFill>
                <a:schemeClr val="bg1"/>
              </a:solidFill>
              <a:latin typeface="Times New Roman" panose="02020603050405020304" pitchFamily="18" charset="0"/>
              <a:cs typeface="Times New Roman" panose="02020603050405020304" pitchFamily="18" charset="0"/>
            </a:endParaRPr>
          </a:p>
        </p:txBody>
      </p:sp>
      <p:sp>
        <p:nvSpPr>
          <p:cNvPr id="3" name="Shape 1"/>
          <p:cNvSpPr/>
          <p:nvPr/>
        </p:nvSpPr>
        <p:spPr>
          <a:xfrm>
            <a:off x="793790" y="2912745"/>
            <a:ext cx="6407944" cy="1669852"/>
          </a:xfrm>
          <a:prstGeom prst="roundRect">
            <a:avLst>
              <a:gd name="adj" fmla="val 2038"/>
            </a:avLst>
          </a:prstGeom>
          <a:solidFill>
            <a:srgbClr val="434348"/>
          </a:solidFill>
          <a:ln/>
        </p:spPr>
      </p:sp>
      <p:sp>
        <p:nvSpPr>
          <p:cNvPr id="4" name="Text 2"/>
          <p:cNvSpPr/>
          <p:nvPr/>
        </p:nvSpPr>
        <p:spPr>
          <a:xfrm>
            <a:off x="1020604" y="3139559"/>
            <a:ext cx="2835235" cy="354330"/>
          </a:xfrm>
          <a:prstGeom prst="rect">
            <a:avLst/>
          </a:prstGeom>
          <a:noFill/>
          <a:ln/>
        </p:spPr>
        <p:txBody>
          <a:bodyPr wrap="none" lIns="0" tIns="0" rIns="0" bIns="0" rtlCol="0" anchor="t"/>
          <a:lstStyle/>
          <a:p>
            <a:pPr marL="0" indent="0" algn="l">
              <a:lnSpc>
                <a:spcPts val="2750"/>
              </a:lnSpc>
              <a:buNone/>
            </a:pPr>
            <a:r>
              <a:rPr lang="en-US" sz="2200" dirty="0">
                <a:solidFill>
                  <a:schemeClr val="bg2">
                    <a:lumMod val="90000"/>
                  </a:schemeClr>
                </a:solidFill>
                <a:latin typeface="Times New Roman" panose="02020603050405020304" pitchFamily="18" charset="0"/>
                <a:ea typeface="Instrument Sans Medium" pitchFamily="34" charset="-122"/>
                <a:cs typeface="Times New Roman" panose="02020603050405020304" pitchFamily="18" charset="0"/>
              </a:rPr>
              <a:t>Accurate Prediction</a:t>
            </a:r>
            <a:endParaRPr lang="en-US" sz="2200" dirty="0">
              <a:solidFill>
                <a:schemeClr val="bg2">
                  <a:lumMod val="90000"/>
                </a:schemeClr>
              </a:solidFill>
              <a:latin typeface="Times New Roman" panose="02020603050405020304" pitchFamily="18" charset="0"/>
              <a:cs typeface="Times New Roman" panose="02020603050405020304" pitchFamily="18" charset="0"/>
            </a:endParaRPr>
          </a:p>
        </p:txBody>
      </p:sp>
      <p:sp>
        <p:nvSpPr>
          <p:cNvPr id="5" name="Text 3"/>
          <p:cNvSpPr/>
          <p:nvPr/>
        </p:nvSpPr>
        <p:spPr>
          <a:xfrm>
            <a:off x="1020604" y="3629978"/>
            <a:ext cx="5954316" cy="725805"/>
          </a:xfrm>
          <a:prstGeom prst="rect">
            <a:avLst/>
          </a:prstGeom>
          <a:noFill/>
          <a:ln/>
        </p:spPr>
        <p:txBody>
          <a:bodyPr wrap="square" lIns="0" tIns="0" rIns="0" bIns="0" rtlCol="0" anchor="t"/>
          <a:lstStyle/>
          <a:p>
            <a:pPr marL="0" indent="0" algn="l">
              <a:lnSpc>
                <a:spcPts val="2850"/>
              </a:lnSpc>
              <a:buNone/>
            </a:pPr>
            <a:r>
              <a:rPr lang="en-US" sz="1750" dirty="0">
                <a:solidFill>
                  <a:schemeClr val="bg2">
                    <a:lumMod val="90000"/>
                  </a:schemeClr>
                </a:solidFill>
                <a:latin typeface="Times New Roman" panose="02020603050405020304" pitchFamily="18" charset="0"/>
                <a:ea typeface="Inter" pitchFamily="34" charset="-122"/>
                <a:cs typeface="Times New Roman" panose="02020603050405020304" pitchFamily="18" charset="0"/>
              </a:rPr>
              <a:t>Develop robust AI models achieving high sensitivity and specificity in cardiovascular risk assessment</a:t>
            </a:r>
            <a:endParaRPr lang="en-US" sz="1750" dirty="0">
              <a:solidFill>
                <a:schemeClr val="bg2">
                  <a:lumMod val="90000"/>
                </a:schemeClr>
              </a:solidFill>
              <a:latin typeface="Times New Roman" panose="02020603050405020304" pitchFamily="18" charset="0"/>
              <a:cs typeface="Times New Roman" panose="02020603050405020304" pitchFamily="18" charset="0"/>
            </a:endParaRPr>
          </a:p>
        </p:txBody>
      </p:sp>
      <p:sp>
        <p:nvSpPr>
          <p:cNvPr id="6" name="Shape 4"/>
          <p:cNvSpPr/>
          <p:nvPr/>
        </p:nvSpPr>
        <p:spPr>
          <a:xfrm>
            <a:off x="7428548" y="2912745"/>
            <a:ext cx="6408063" cy="1669852"/>
          </a:xfrm>
          <a:prstGeom prst="roundRect">
            <a:avLst>
              <a:gd name="adj" fmla="val 2038"/>
            </a:avLst>
          </a:prstGeom>
          <a:solidFill>
            <a:srgbClr val="434348"/>
          </a:solidFill>
          <a:ln/>
        </p:spPr>
      </p:sp>
      <p:sp>
        <p:nvSpPr>
          <p:cNvPr id="7" name="Text 5"/>
          <p:cNvSpPr/>
          <p:nvPr/>
        </p:nvSpPr>
        <p:spPr>
          <a:xfrm>
            <a:off x="7655362" y="3139559"/>
            <a:ext cx="2835235" cy="354330"/>
          </a:xfrm>
          <a:prstGeom prst="rect">
            <a:avLst/>
          </a:prstGeom>
          <a:noFill/>
          <a:ln/>
        </p:spPr>
        <p:txBody>
          <a:bodyPr wrap="none" lIns="0" tIns="0" rIns="0" bIns="0" rtlCol="0" anchor="t"/>
          <a:lstStyle/>
          <a:p>
            <a:pPr marL="0" indent="0" algn="l">
              <a:lnSpc>
                <a:spcPts val="2750"/>
              </a:lnSpc>
              <a:buNone/>
            </a:pPr>
            <a:r>
              <a:rPr lang="en-US" sz="2200" dirty="0">
                <a:solidFill>
                  <a:schemeClr val="bg2">
                    <a:lumMod val="90000"/>
                  </a:schemeClr>
                </a:solidFill>
                <a:latin typeface="Times New Roman" panose="02020603050405020304" pitchFamily="18" charset="0"/>
                <a:ea typeface="Instrument Sans Medium" pitchFamily="34" charset="-122"/>
                <a:cs typeface="Times New Roman" panose="02020603050405020304" pitchFamily="18" charset="0"/>
              </a:rPr>
              <a:t>Accessible Tools</a:t>
            </a:r>
            <a:endParaRPr lang="en-US" sz="2200" dirty="0">
              <a:solidFill>
                <a:schemeClr val="bg2">
                  <a:lumMod val="90000"/>
                </a:schemeClr>
              </a:solidFill>
              <a:latin typeface="Times New Roman" panose="02020603050405020304" pitchFamily="18" charset="0"/>
              <a:cs typeface="Times New Roman" panose="02020603050405020304" pitchFamily="18" charset="0"/>
            </a:endParaRPr>
          </a:p>
        </p:txBody>
      </p:sp>
      <p:sp>
        <p:nvSpPr>
          <p:cNvPr id="8" name="Text 6"/>
          <p:cNvSpPr/>
          <p:nvPr/>
        </p:nvSpPr>
        <p:spPr>
          <a:xfrm>
            <a:off x="7655362" y="3629978"/>
            <a:ext cx="5954435" cy="725805"/>
          </a:xfrm>
          <a:prstGeom prst="rect">
            <a:avLst/>
          </a:prstGeom>
          <a:noFill/>
          <a:ln/>
        </p:spPr>
        <p:txBody>
          <a:bodyPr wrap="square" lIns="0" tIns="0" rIns="0" bIns="0" rtlCol="0" anchor="t"/>
          <a:lstStyle/>
          <a:p>
            <a:pPr marL="0" indent="0" algn="l">
              <a:lnSpc>
                <a:spcPts val="2850"/>
              </a:lnSpc>
              <a:buNone/>
            </a:pPr>
            <a:r>
              <a:rPr lang="en-US" sz="1750" dirty="0">
                <a:solidFill>
                  <a:schemeClr val="bg2">
                    <a:lumMod val="90000"/>
                  </a:schemeClr>
                </a:solidFill>
                <a:latin typeface="Times New Roman" panose="02020603050405020304" pitchFamily="18" charset="0"/>
                <a:ea typeface="Inter" pitchFamily="34" charset="-122"/>
                <a:cs typeface="Times New Roman" panose="02020603050405020304" pitchFamily="18" charset="0"/>
              </a:rPr>
              <a:t>Create intuitive screening applications for healthcare professionals and at-risk populations</a:t>
            </a:r>
            <a:endParaRPr lang="en-US" sz="1750" dirty="0">
              <a:solidFill>
                <a:schemeClr val="bg2">
                  <a:lumMod val="90000"/>
                </a:schemeClr>
              </a:solidFill>
              <a:latin typeface="Times New Roman" panose="02020603050405020304" pitchFamily="18" charset="0"/>
              <a:cs typeface="Times New Roman" panose="02020603050405020304" pitchFamily="18" charset="0"/>
            </a:endParaRPr>
          </a:p>
        </p:txBody>
      </p:sp>
      <p:sp>
        <p:nvSpPr>
          <p:cNvPr id="9" name="Shape 7"/>
          <p:cNvSpPr/>
          <p:nvPr/>
        </p:nvSpPr>
        <p:spPr>
          <a:xfrm>
            <a:off x="793790" y="4809411"/>
            <a:ext cx="6407944" cy="1669852"/>
          </a:xfrm>
          <a:prstGeom prst="roundRect">
            <a:avLst>
              <a:gd name="adj" fmla="val 2038"/>
            </a:avLst>
          </a:prstGeom>
          <a:solidFill>
            <a:srgbClr val="434348"/>
          </a:solidFill>
          <a:ln/>
        </p:spPr>
      </p:sp>
      <p:sp>
        <p:nvSpPr>
          <p:cNvPr id="10" name="Text 8"/>
          <p:cNvSpPr/>
          <p:nvPr/>
        </p:nvSpPr>
        <p:spPr>
          <a:xfrm>
            <a:off x="1020604" y="5036225"/>
            <a:ext cx="2835235" cy="354330"/>
          </a:xfrm>
          <a:prstGeom prst="rect">
            <a:avLst/>
          </a:prstGeom>
          <a:noFill/>
          <a:ln/>
        </p:spPr>
        <p:txBody>
          <a:bodyPr wrap="none" lIns="0" tIns="0" rIns="0" bIns="0" rtlCol="0" anchor="t"/>
          <a:lstStyle/>
          <a:p>
            <a:pPr marL="0" indent="0" algn="l">
              <a:lnSpc>
                <a:spcPts val="2750"/>
              </a:lnSpc>
              <a:buNone/>
            </a:pPr>
            <a:r>
              <a:rPr lang="en-US" sz="2200" dirty="0">
                <a:solidFill>
                  <a:schemeClr val="bg2">
                    <a:lumMod val="90000"/>
                  </a:schemeClr>
                </a:solidFill>
                <a:latin typeface="Times New Roman" panose="02020603050405020304" pitchFamily="18" charset="0"/>
                <a:ea typeface="Instrument Sans Medium" pitchFamily="34" charset="-122"/>
                <a:cs typeface="Times New Roman" panose="02020603050405020304" pitchFamily="18" charset="0"/>
              </a:rPr>
              <a:t>Early Detection</a:t>
            </a:r>
            <a:endParaRPr lang="en-US" sz="2200" dirty="0">
              <a:solidFill>
                <a:schemeClr val="bg2">
                  <a:lumMod val="90000"/>
                </a:schemeClr>
              </a:solidFill>
              <a:latin typeface="Times New Roman" panose="02020603050405020304" pitchFamily="18" charset="0"/>
              <a:cs typeface="Times New Roman" panose="02020603050405020304" pitchFamily="18" charset="0"/>
            </a:endParaRPr>
          </a:p>
        </p:txBody>
      </p:sp>
      <p:sp>
        <p:nvSpPr>
          <p:cNvPr id="11" name="Text 9"/>
          <p:cNvSpPr/>
          <p:nvPr/>
        </p:nvSpPr>
        <p:spPr>
          <a:xfrm>
            <a:off x="1020604" y="5526643"/>
            <a:ext cx="5954316" cy="725805"/>
          </a:xfrm>
          <a:prstGeom prst="rect">
            <a:avLst/>
          </a:prstGeom>
          <a:noFill/>
          <a:ln/>
        </p:spPr>
        <p:txBody>
          <a:bodyPr wrap="square" lIns="0" tIns="0" rIns="0" bIns="0" rtlCol="0" anchor="t"/>
          <a:lstStyle/>
          <a:p>
            <a:pPr marL="0" indent="0" algn="l">
              <a:lnSpc>
                <a:spcPts val="2850"/>
              </a:lnSpc>
              <a:buNone/>
            </a:pPr>
            <a:r>
              <a:rPr lang="en-US" sz="1750" dirty="0">
                <a:solidFill>
                  <a:schemeClr val="bg2">
                    <a:lumMod val="90000"/>
                  </a:schemeClr>
                </a:solidFill>
                <a:latin typeface="Times New Roman" panose="02020603050405020304" pitchFamily="18" charset="0"/>
                <a:ea typeface="Inter" pitchFamily="34" charset="-122"/>
                <a:cs typeface="Times New Roman" panose="02020603050405020304" pitchFamily="18" charset="0"/>
              </a:rPr>
              <a:t>Enable proactive identification of cardiovascular risks before clinical manifestation</a:t>
            </a:r>
            <a:endParaRPr lang="en-US" sz="1750" dirty="0">
              <a:solidFill>
                <a:schemeClr val="bg2">
                  <a:lumMod val="90000"/>
                </a:schemeClr>
              </a:solidFill>
              <a:latin typeface="Times New Roman" panose="02020603050405020304" pitchFamily="18" charset="0"/>
              <a:cs typeface="Times New Roman" panose="02020603050405020304" pitchFamily="18" charset="0"/>
            </a:endParaRPr>
          </a:p>
        </p:txBody>
      </p:sp>
      <p:sp>
        <p:nvSpPr>
          <p:cNvPr id="12" name="Shape 10"/>
          <p:cNvSpPr/>
          <p:nvPr/>
        </p:nvSpPr>
        <p:spPr>
          <a:xfrm>
            <a:off x="7428548" y="4809411"/>
            <a:ext cx="6408063" cy="1669852"/>
          </a:xfrm>
          <a:prstGeom prst="roundRect">
            <a:avLst>
              <a:gd name="adj" fmla="val 2038"/>
            </a:avLst>
          </a:prstGeom>
          <a:solidFill>
            <a:srgbClr val="434348"/>
          </a:solidFill>
          <a:ln/>
        </p:spPr>
      </p:sp>
      <p:sp>
        <p:nvSpPr>
          <p:cNvPr id="13" name="Text 11"/>
          <p:cNvSpPr/>
          <p:nvPr/>
        </p:nvSpPr>
        <p:spPr>
          <a:xfrm>
            <a:off x="7655362" y="5036225"/>
            <a:ext cx="2835235" cy="354330"/>
          </a:xfrm>
          <a:prstGeom prst="rect">
            <a:avLst/>
          </a:prstGeom>
          <a:noFill/>
          <a:ln/>
        </p:spPr>
        <p:txBody>
          <a:bodyPr wrap="none" lIns="0" tIns="0" rIns="0" bIns="0" rtlCol="0" anchor="t"/>
          <a:lstStyle/>
          <a:p>
            <a:pPr marL="0" indent="0" algn="l">
              <a:lnSpc>
                <a:spcPts val="2750"/>
              </a:lnSpc>
              <a:buNone/>
            </a:pPr>
            <a:r>
              <a:rPr lang="en-US" sz="2200" dirty="0">
                <a:solidFill>
                  <a:schemeClr val="bg2">
                    <a:lumMod val="90000"/>
                  </a:schemeClr>
                </a:solidFill>
                <a:latin typeface="Times New Roman" panose="02020603050405020304" pitchFamily="18" charset="0"/>
                <a:ea typeface="Instrument Sans Medium" pitchFamily="34" charset="-122"/>
                <a:cs typeface="Times New Roman" panose="02020603050405020304" pitchFamily="18" charset="0"/>
              </a:rPr>
              <a:t>Cost Efficiency</a:t>
            </a:r>
            <a:endParaRPr lang="en-US" sz="2200" dirty="0">
              <a:solidFill>
                <a:schemeClr val="bg2">
                  <a:lumMod val="90000"/>
                </a:schemeClr>
              </a:solidFill>
              <a:latin typeface="Times New Roman" panose="02020603050405020304" pitchFamily="18" charset="0"/>
              <a:cs typeface="Times New Roman" panose="02020603050405020304" pitchFamily="18" charset="0"/>
            </a:endParaRPr>
          </a:p>
        </p:txBody>
      </p:sp>
      <p:sp>
        <p:nvSpPr>
          <p:cNvPr id="14" name="Text 12"/>
          <p:cNvSpPr/>
          <p:nvPr/>
        </p:nvSpPr>
        <p:spPr>
          <a:xfrm>
            <a:off x="7655362" y="5526643"/>
            <a:ext cx="5954435" cy="725805"/>
          </a:xfrm>
          <a:prstGeom prst="rect">
            <a:avLst/>
          </a:prstGeom>
          <a:noFill/>
          <a:ln/>
        </p:spPr>
        <p:txBody>
          <a:bodyPr wrap="square" lIns="0" tIns="0" rIns="0" bIns="0" rtlCol="0" anchor="t"/>
          <a:lstStyle/>
          <a:p>
            <a:pPr marL="0" indent="0" algn="l">
              <a:lnSpc>
                <a:spcPts val="2850"/>
              </a:lnSpc>
              <a:buNone/>
            </a:pPr>
            <a:r>
              <a:rPr lang="en-US" sz="1750" dirty="0">
                <a:solidFill>
                  <a:schemeClr val="bg2">
                    <a:lumMod val="90000"/>
                  </a:schemeClr>
                </a:solidFill>
                <a:latin typeface="Times New Roman" panose="02020603050405020304" pitchFamily="18" charset="0"/>
                <a:ea typeface="Inter" pitchFamily="34" charset="-122"/>
                <a:cs typeface="Times New Roman" panose="02020603050405020304" pitchFamily="18" charset="0"/>
              </a:rPr>
              <a:t>Reduce healthcare expenditure through preventive screening and optimised resource allocation</a:t>
            </a:r>
            <a:endParaRPr lang="en-US" sz="1750" dirty="0">
              <a:solidFill>
                <a:schemeClr val="bg2">
                  <a:lumMod val="90000"/>
                </a:schemeClr>
              </a:solidFill>
              <a:latin typeface="Times New Roman" panose="02020603050405020304" pitchFamily="18" charset="0"/>
              <a:cs typeface="Times New Roman" panose="02020603050405020304" pitchFamily="18" charset="0"/>
            </a:endParaRPr>
          </a:p>
        </p:txBody>
      </p:sp>
      <p:pic>
        <p:nvPicPr>
          <p:cNvPr id="16" name="Picture 15">
            <a:extLst>
              <a:ext uri="{FF2B5EF4-FFF2-40B4-BE49-F238E27FC236}">
                <a16:creationId xmlns:a16="http://schemas.microsoft.com/office/drawing/2014/main" id="{8E8850F8-1FBE-82E0-39A9-DEB298DE9DC0}"/>
              </a:ext>
            </a:extLst>
          </p:cNvPr>
          <p:cNvPicPr>
            <a:picLocks noChangeAspect="1"/>
          </p:cNvPicPr>
          <p:nvPr/>
        </p:nvPicPr>
        <p:blipFill>
          <a:blip r:embed="rId3"/>
          <a:stretch>
            <a:fillRect/>
          </a:stretch>
        </p:blipFill>
        <p:spPr>
          <a:xfrm>
            <a:off x="12671453" y="7742030"/>
            <a:ext cx="1876687" cy="40010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p:nvPr/>
        </p:nvSpPr>
        <p:spPr>
          <a:xfrm>
            <a:off x="508721" y="174058"/>
            <a:ext cx="5507474" cy="688419"/>
          </a:xfrm>
          <a:prstGeom prst="rect">
            <a:avLst/>
          </a:prstGeom>
          <a:noFill/>
          <a:ln/>
        </p:spPr>
        <p:txBody>
          <a:bodyPr wrap="none" lIns="0" tIns="0" rIns="0" bIns="0" rtlCol="0" anchor="t"/>
          <a:lstStyle/>
          <a:p>
            <a:pPr marL="0" indent="0" algn="l">
              <a:lnSpc>
                <a:spcPts val="5400"/>
              </a:lnSpc>
              <a:buNone/>
            </a:pPr>
            <a:r>
              <a:rPr lang="en-US" sz="4300" dirty="0">
                <a:solidFill>
                  <a:schemeClr val="bg1"/>
                </a:solidFill>
                <a:latin typeface="Times New Roman" panose="02020603050405020304" pitchFamily="18" charset="0"/>
                <a:ea typeface="Instrument Sans Medium" pitchFamily="34" charset="-122"/>
                <a:cs typeface="Times New Roman" panose="02020603050405020304" pitchFamily="18" charset="0"/>
              </a:rPr>
              <a:t>Dataset Foundation</a:t>
            </a:r>
            <a:endParaRPr lang="en-US" sz="4300" dirty="0">
              <a:solidFill>
                <a:schemeClr val="bg1"/>
              </a:solidFill>
              <a:latin typeface="Times New Roman" panose="02020603050405020304" pitchFamily="18" charset="0"/>
              <a:cs typeface="Times New Roman" panose="02020603050405020304" pitchFamily="18" charset="0"/>
            </a:endParaRPr>
          </a:p>
        </p:txBody>
      </p:sp>
      <p:sp>
        <p:nvSpPr>
          <p:cNvPr id="4" name="Text 1"/>
          <p:cNvSpPr/>
          <p:nvPr/>
        </p:nvSpPr>
        <p:spPr>
          <a:xfrm>
            <a:off x="771049" y="4458438"/>
            <a:ext cx="4179213" cy="726877"/>
          </a:xfrm>
          <a:prstGeom prst="rect">
            <a:avLst/>
          </a:prstGeom>
          <a:noFill/>
          <a:ln/>
        </p:spPr>
        <p:txBody>
          <a:bodyPr wrap="none" lIns="0" tIns="0" rIns="0" bIns="7200000" rtlCol="0" anchor="t"/>
          <a:lstStyle/>
          <a:p>
            <a:pPr marL="0" indent="0" algn="ctr">
              <a:lnSpc>
                <a:spcPts val="5700"/>
              </a:lnSpc>
              <a:buNone/>
            </a:pPr>
            <a:endParaRPr lang="en-US" sz="5700" dirty="0">
              <a:solidFill>
                <a:schemeClr val="bg2"/>
              </a:solidFill>
              <a:latin typeface="Times New Roman" panose="02020603050405020304" pitchFamily="18" charset="0"/>
              <a:cs typeface="Times New Roman" panose="02020603050405020304" pitchFamily="18" charset="0"/>
            </a:endParaRPr>
          </a:p>
        </p:txBody>
      </p:sp>
      <p:sp>
        <p:nvSpPr>
          <p:cNvPr id="5" name="Text 2"/>
          <p:cNvSpPr/>
          <p:nvPr/>
        </p:nvSpPr>
        <p:spPr>
          <a:xfrm>
            <a:off x="1483757" y="5460587"/>
            <a:ext cx="2753678" cy="344210"/>
          </a:xfrm>
          <a:prstGeom prst="rect">
            <a:avLst/>
          </a:prstGeom>
          <a:noFill/>
          <a:ln/>
        </p:spPr>
        <p:txBody>
          <a:bodyPr wrap="none" lIns="0" tIns="0" rIns="0" bIns="7200000" rtlCol="0" anchor="t"/>
          <a:lstStyle/>
          <a:p>
            <a:pPr marL="0" indent="0" algn="ctr">
              <a:lnSpc>
                <a:spcPts val="2700"/>
              </a:lnSpc>
              <a:buNone/>
            </a:pPr>
            <a:r>
              <a:rPr lang="en-US" sz="2150" dirty="0">
                <a:solidFill>
                  <a:schemeClr val="bg2"/>
                </a:solidFill>
                <a:latin typeface="Times New Roman" panose="02020603050405020304" pitchFamily="18" charset="0"/>
                <a:ea typeface="Instrument Sans Medium" pitchFamily="34" charset="-122"/>
                <a:cs typeface="Times New Roman" panose="02020603050405020304" pitchFamily="18" charset="0"/>
              </a:rPr>
              <a:t>Patient Records</a:t>
            </a:r>
            <a:endParaRPr lang="en-US" sz="2150" dirty="0">
              <a:solidFill>
                <a:schemeClr val="bg2"/>
              </a:solidFill>
              <a:latin typeface="Times New Roman" panose="02020603050405020304" pitchFamily="18" charset="0"/>
              <a:cs typeface="Times New Roman" panose="02020603050405020304" pitchFamily="18" charset="0"/>
            </a:endParaRPr>
          </a:p>
        </p:txBody>
      </p:sp>
      <p:sp>
        <p:nvSpPr>
          <p:cNvPr id="6" name="Text 3"/>
          <p:cNvSpPr/>
          <p:nvPr/>
        </p:nvSpPr>
        <p:spPr>
          <a:xfrm>
            <a:off x="771049" y="5936956"/>
            <a:ext cx="4179213" cy="704850"/>
          </a:xfrm>
          <a:prstGeom prst="rect">
            <a:avLst/>
          </a:prstGeom>
          <a:noFill/>
          <a:ln/>
        </p:spPr>
        <p:txBody>
          <a:bodyPr wrap="square" lIns="0" tIns="0" rIns="0" bIns="7200000" rtlCol="0" anchor="t"/>
          <a:lstStyle/>
          <a:p>
            <a:pPr marL="0" indent="0" algn="ctr">
              <a:lnSpc>
                <a:spcPts val="2750"/>
              </a:lnSpc>
              <a:buNone/>
            </a:pPr>
            <a:r>
              <a:rPr lang="en-US" sz="1700" dirty="0">
                <a:solidFill>
                  <a:schemeClr val="bg2"/>
                </a:solidFill>
                <a:latin typeface="Times New Roman" panose="02020603050405020304" pitchFamily="18" charset="0"/>
                <a:ea typeface="Inter" pitchFamily="34" charset="-122"/>
                <a:cs typeface="Times New Roman" panose="02020603050405020304" pitchFamily="18" charset="0"/>
              </a:rPr>
              <a:t>Comprehensive clinical data from real medical examinations</a:t>
            </a:r>
            <a:endParaRPr lang="en-US" sz="1700" dirty="0">
              <a:solidFill>
                <a:schemeClr val="bg2"/>
              </a:solidFill>
              <a:latin typeface="Times New Roman" panose="02020603050405020304" pitchFamily="18" charset="0"/>
              <a:cs typeface="Times New Roman" panose="02020603050405020304" pitchFamily="18" charset="0"/>
            </a:endParaRPr>
          </a:p>
        </p:txBody>
      </p:sp>
      <p:sp>
        <p:nvSpPr>
          <p:cNvPr id="7" name="Text 4"/>
          <p:cNvSpPr/>
          <p:nvPr/>
        </p:nvSpPr>
        <p:spPr>
          <a:xfrm>
            <a:off x="5225415" y="4485941"/>
            <a:ext cx="4179213" cy="726877"/>
          </a:xfrm>
          <a:prstGeom prst="rect">
            <a:avLst/>
          </a:prstGeom>
          <a:noFill/>
          <a:ln/>
        </p:spPr>
        <p:txBody>
          <a:bodyPr wrap="none" lIns="0" tIns="0" rIns="0" bIns="7200000" rtlCol="0" anchor="t"/>
          <a:lstStyle/>
          <a:p>
            <a:pPr marL="0" indent="0" algn="ctr">
              <a:lnSpc>
                <a:spcPts val="5700"/>
              </a:lnSpc>
              <a:buNone/>
            </a:pPr>
            <a:r>
              <a:rPr lang="en-US" sz="5700" dirty="0">
                <a:solidFill>
                  <a:schemeClr val="bg2"/>
                </a:solidFill>
                <a:latin typeface="Times New Roman" panose="02020603050405020304" pitchFamily="18" charset="0"/>
                <a:ea typeface="Instrument Sans Medium" pitchFamily="34" charset="-122"/>
                <a:cs typeface="Times New Roman" panose="02020603050405020304" pitchFamily="18" charset="0"/>
              </a:rPr>
              <a:t>14</a:t>
            </a:r>
            <a:endParaRPr lang="en-US" sz="5700" dirty="0">
              <a:solidFill>
                <a:schemeClr val="bg2"/>
              </a:solidFill>
              <a:latin typeface="Times New Roman" panose="02020603050405020304" pitchFamily="18" charset="0"/>
              <a:cs typeface="Times New Roman" panose="02020603050405020304" pitchFamily="18" charset="0"/>
            </a:endParaRPr>
          </a:p>
        </p:txBody>
      </p:sp>
      <p:sp>
        <p:nvSpPr>
          <p:cNvPr id="8" name="Text 5"/>
          <p:cNvSpPr/>
          <p:nvPr/>
        </p:nvSpPr>
        <p:spPr>
          <a:xfrm>
            <a:off x="5938242" y="5460587"/>
            <a:ext cx="2753678" cy="344210"/>
          </a:xfrm>
          <a:prstGeom prst="rect">
            <a:avLst/>
          </a:prstGeom>
          <a:noFill/>
          <a:ln/>
        </p:spPr>
        <p:txBody>
          <a:bodyPr wrap="none" lIns="0" tIns="0" rIns="0" bIns="7200000" rtlCol="0" anchor="t"/>
          <a:lstStyle/>
          <a:p>
            <a:pPr marL="0" indent="0" algn="ctr">
              <a:lnSpc>
                <a:spcPts val="2700"/>
              </a:lnSpc>
              <a:buNone/>
            </a:pPr>
            <a:r>
              <a:rPr lang="en-US" sz="2150" dirty="0">
                <a:solidFill>
                  <a:schemeClr val="bg2"/>
                </a:solidFill>
                <a:latin typeface="Times New Roman" panose="02020603050405020304" pitchFamily="18" charset="0"/>
                <a:ea typeface="Instrument Sans Medium" pitchFamily="34" charset="-122"/>
                <a:cs typeface="Times New Roman" panose="02020603050405020304" pitchFamily="18" charset="0"/>
              </a:rPr>
              <a:t>Medical Parameters</a:t>
            </a:r>
            <a:endParaRPr lang="en-US" sz="2150" dirty="0">
              <a:solidFill>
                <a:schemeClr val="bg2"/>
              </a:solidFill>
              <a:latin typeface="Times New Roman" panose="02020603050405020304" pitchFamily="18" charset="0"/>
              <a:cs typeface="Times New Roman" panose="02020603050405020304" pitchFamily="18" charset="0"/>
            </a:endParaRPr>
          </a:p>
        </p:txBody>
      </p:sp>
      <p:sp>
        <p:nvSpPr>
          <p:cNvPr id="9" name="Text 6"/>
          <p:cNvSpPr/>
          <p:nvPr/>
        </p:nvSpPr>
        <p:spPr>
          <a:xfrm>
            <a:off x="5225534" y="5936956"/>
            <a:ext cx="4179213" cy="704850"/>
          </a:xfrm>
          <a:prstGeom prst="rect">
            <a:avLst/>
          </a:prstGeom>
          <a:noFill/>
          <a:ln/>
        </p:spPr>
        <p:txBody>
          <a:bodyPr wrap="square" lIns="0" tIns="0" rIns="0" bIns="7200000" rtlCol="0" anchor="t"/>
          <a:lstStyle/>
          <a:p>
            <a:pPr marL="0" indent="0" algn="ctr">
              <a:lnSpc>
                <a:spcPts val="2750"/>
              </a:lnSpc>
              <a:buNone/>
            </a:pPr>
            <a:r>
              <a:rPr lang="en-US" sz="1700" dirty="0">
                <a:solidFill>
                  <a:schemeClr val="bg2"/>
                </a:solidFill>
                <a:latin typeface="Times New Roman" panose="02020603050405020304" pitchFamily="18" charset="0"/>
                <a:ea typeface="Inter" pitchFamily="34" charset="-122"/>
                <a:cs typeface="Times New Roman" panose="02020603050405020304" pitchFamily="18" charset="0"/>
              </a:rPr>
              <a:t>Including demographics, symptoms, and diagnostic test results</a:t>
            </a:r>
            <a:endParaRPr lang="en-US" sz="1700" dirty="0">
              <a:solidFill>
                <a:schemeClr val="bg2"/>
              </a:solidFill>
              <a:latin typeface="Times New Roman" panose="02020603050405020304" pitchFamily="18" charset="0"/>
              <a:cs typeface="Times New Roman" panose="02020603050405020304" pitchFamily="18" charset="0"/>
            </a:endParaRPr>
          </a:p>
        </p:txBody>
      </p:sp>
      <p:sp>
        <p:nvSpPr>
          <p:cNvPr id="10" name="Text 7"/>
          <p:cNvSpPr/>
          <p:nvPr/>
        </p:nvSpPr>
        <p:spPr>
          <a:xfrm>
            <a:off x="9680019" y="4458438"/>
            <a:ext cx="4179332" cy="726877"/>
          </a:xfrm>
          <a:prstGeom prst="rect">
            <a:avLst/>
          </a:prstGeom>
          <a:noFill/>
          <a:ln/>
        </p:spPr>
        <p:txBody>
          <a:bodyPr wrap="none" lIns="0" tIns="0" rIns="0" bIns="7200000" rtlCol="0" anchor="t"/>
          <a:lstStyle/>
          <a:p>
            <a:pPr marL="0" indent="0" algn="ctr">
              <a:lnSpc>
                <a:spcPts val="5700"/>
              </a:lnSpc>
              <a:buNone/>
            </a:pPr>
            <a:r>
              <a:rPr lang="en-US" sz="5700" dirty="0">
                <a:solidFill>
                  <a:schemeClr val="bg2"/>
                </a:solidFill>
                <a:latin typeface="Times New Roman" panose="02020603050405020304" pitchFamily="18" charset="0"/>
                <a:ea typeface="Instrument Sans Medium" pitchFamily="34" charset="-122"/>
                <a:cs typeface="Times New Roman" panose="02020603050405020304" pitchFamily="18" charset="0"/>
              </a:rPr>
              <a:t>13</a:t>
            </a:r>
            <a:endParaRPr lang="en-US" sz="5700" dirty="0">
              <a:solidFill>
                <a:schemeClr val="bg2"/>
              </a:solidFill>
              <a:latin typeface="Times New Roman" panose="02020603050405020304" pitchFamily="18" charset="0"/>
              <a:cs typeface="Times New Roman" panose="02020603050405020304" pitchFamily="18" charset="0"/>
            </a:endParaRPr>
          </a:p>
        </p:txBody>
      </p:sp>
      <p:sp>
        <p:nvSpPr>
          <p:cNvPr id="11" name="Text 8"/>
          <p:cNvSpPr/>
          <p:nvPr/>
        </p:nvSpPr>
        <p:spPr>
          <a:xfrm>
            <a:off x="10392847" y="5460587"/>
            <a:ext cx="2753678" cy="344210"/>
          </a:xfrm>
          <a:prstGeom prst="rect">
            <a:avLst/>
          </a:prstGeom>
          <a:noFill/>
          <a:ln/>
        </p:spPr>
        <p:txBody>
          <a:bodyPr wrap="none" lIns="0" tIns="0" rIns="0" bIns="7200000" rtlCol="0" anchor="t"/>
          <a:lstStyle/>
          <a:p>
            <a:pPr marL="0" indent="0" algn="ctr">
              <a:lnSpc>
                <a:spcPts val="2700"/>
              </a:lnSpc>
              <a:buNone/>
            </a:pPr>
            <a:r>
              <a:rPr lang="en-US" sz="2150" dirty="0">
                <a:solidFill>
                  <a:schemeClr val="bg2"/>
                </a:solidFill>
                <a:latin typeface="Times New Roman" panose="02020603050405020304" pitchFamily="18" charset="0"/>
                <a:ea typeface="Instrument Sans Medium" pitchFamily="34" charset="-122"/>
                <a:cs typeface="Times New Roman" panose="02020603050405020304" pitchFamily="18" charset="0"/>
              </a:rPr>
              <a:t>Input Features</a:t>
            </a:r>
            <a:endParaRPr lang="en-US" sz="2150" dirty="0">
              <a:solidFill>
                <a:schemeClr val="bg2"/>
              </a:solidFill>
              <a:latin typeface="Times New Roman" panose="02020603050405020304" pitchFamily="18" charset="0"/>
              <a:cs typeface="Times New Roman" panose="02020603050405020304" pitchFamily="18" charset="0"/>
            </a:endParaRPr>
          </a:p>
        </p:txBody>
      </p:sp>
      <p:sp>
        <p:nvSpPr>
          <p:cNvPr id="12" name="Text 9"/>
          <p:cNvSpPr/>
          <p:nvPr/>
        </p:nvSpPr>
        <p:spPr>
          <a:xfrm>
            <a:off x="9680019" y="5936956"/>
            <a:ext cx="4179332" cy="704850"/>
          </a:xfrm>
          <a:prstGeom prst="rect">
            <a:avLst/>
          </a:prstGeom>
          <a:noFill/>
          <a:ln/>
        </p:spPr>
        <p:txBody>
          <a:bodyPr wrap="square" lIns="0" tIns="0" rIns="0" bIns="7200000" rtlCol="0" anchor="t"/>
          <a:lstStyle/>
          <a:p>
            <a:pPr marL="0" indent="0" algn="ctr">
              <a:lnSpc>
                <a:spcPts val="2750"/>
              </a:lnSpc>
              <a:buNone/>
            </a:pPr>
            <a:r>
              <a:rPr lang="en-US" sz="1700" dirty="0">
                <a:solidFill>
                  <a:schemeClr val="bg2"/>
                </a:solidFill>
                <a:latin typeface="Times New Roman" panose="02020603050405020304" pitchFamily="18" charset="0"/>
                <a:ea typeface="Inter" pitchFamily="34" charset="-122"/>
                <a:cs typeface="Times New Roman" panose="02020603050405020304" pitchFamily="18" charset="0"/>
              </a:rPr>
              <a:t>Plus one target variable indicating disease presence</a:t>
            </a:r>
            <a:endParaRPr lang="en-US" sz="1700" dirty="0">
              <a:solidFill>
                <a:schemeClr val="bg2"/>
              </a:solidFill>
              <a:latin typeface="Times New Roman" panose="02020603050405020304" pitchFamily="18" charset="0"/>
              <a:cs typeface="Times New Roman" panose="02020603050405020304" pitchFamily="18" charset="0"/>
            </a:endParaRPr>
          </a:p>
        </p:txBody>
      </p:sp>
      <p:sp>
        <p:nvSpPr>
          <p:cNvPr id="13" name="Text 10"/>
          <p:cNvSpPr/>
          <p:nvPr/>
        </p:nvSpPr>
        <p:spPr>
          <a:xfrm>
            <a:off x="771049" y="6889575"/>
            <a:ext cx="13088303" cy="704850"/>
          </a:xfrm>
          <a:prstGeom prst="rect">
            <a:avLst/>
          </a:prstGeom>
          <a:noFill/>
          <a:ln/>
        </p:spPr>
        <p:txBody>
          <a:bodyPr wrap="square" lIns="0" tIns="0" rIns="0" bIns="7200000" rtlCol="0" anchor="t"/>
          <a:lstStyle/>
          <a:p>
            <a:pPr>
              <a:lnSpc>
                <a:spcPts val="2750"/>
              </a:lnSpc>
            </a:pPr>
            <a:r>
              <a:rPr lang="en-US" sz="1700" dirty="0">
                <a:solidFill>
                  <a:schemeClr val="bg2"/>
                </a:solidFill>
                <a:latin typeface="Times New Roman" panose="02020603050405020304" pitchFamily="18" charset="0"/>
                <a:ea typeface="Inter" pitchFamily="34" charset="-122"/>
                <a:cs typeface="Times New Roman" panose="02020603050405020304" pitchFamily="18" charset="0"/>
              </a:rPr>
              <a:t>Data sourced from the prestigious Cleveland Heart Disease Dataset (UCI Machine Learning Repository), ensuring clinical validity and research reproducibility. </a:t>
            </a:r>
            <a:r>
              <a:rPr lang="en-US" dirty="0">
                <a:solidFill>
                  <a:schemeClr val="bg2"/>
                </a:solidFill>
              </a:rPr>
              <a:t>Data sourced from the prestigious Cleveland Heart Disease Dataset (UCI Machine Learning Repository), ensuring clinical validity and research reproducibility. The dataset is widely recognized in the medical and machine learning community for benchmarking predictive models. It contains well-structured and standardized patient records, enabling effective training, testing, and comparison of algorithms. Its reliability and real-world relevance make it ideal for developing accurate and scalable heart disease prediction systems</a:t>
            </a:r>
            <a:r>
              <a:rPr lang="en-US" sz="1600" dirty="0">
                <a:solidFill>
                  <a:schemeClr val="bg2"/>
                </a:solidFill>
              </a:rPr>
              <a:t>.</a:t>
            </a:r>
          </a:p>
          <a:p>
            <a:pPr marL="0" indent="0" algn="l">
              <a:lnSpc>
                <a:spcPts val="2750"/>
              </a:lnSpc>
              <a:buNone/>
            </a:pPr>
            <a:endParaRPr lang="en-US" sz="1700" dirty="0">
              <a:solidFill>
                <a:schemeClr val="bg2"/>
              </a:solidFill>
              <a:latin typeface="Times New Roman" panose="02020603050405020304" pitchFamily="18" charset="0"/>
              <a:cs typeface="Times New Roman" panose="02020603050405020304" pitchFamily="18" charset="0"/>
            </a:endParaRPr>
          </a:p>
        </p:txBody>
      </p:sp>
      <p:pic>
        <p:nvPicPr>
          <p:cNvPr id="15" name="Picture 14">
            <a:extLst>
              <a:ext uri="{FF2B5EF4-FFF2-40B4-BE49-F238E27FC236}">
                <a16:creationId xmlns:a16="http://schemas.microsoft.com/office/drawing/2014/main" id="{5A53BA15-B4C9-052F-7B21-05E1EB2B2646}"/>
              </a:ext>
            </a:extLst>
          </p:cNvPr>
          <p:cNvPicPr>
            <a:picLocks noChangeAspect="1"/>
          </p:cNvPicPr>
          <p:nvPr/>
        </p:nvPicPr>
        <p:blipFill>
          <a:blip r:embed="rId3"/>
          <a:stretch>
            <a:fillRect/>
          </a:stretch>
        </p:blipFill>
        <p:spPr>
          <a:xfrm>
            <a:off x="12753713" y="7760883"/>
            <a:ext cx="1876687" cy="400106"/>
          </a:xfrm>
          <a:prstGeom prst="rect">
            <a:avLst/>
          </a:prstGeom>
        </p:spPr>
      </p:pic>
      <p:sp>
        <p:nvSpPr>
          <p:cNvPr id="14" name="TextBox 13">
            <a:extLst>
              <a:ext uri="{FF2B5EF4-FFF2-40B4-BE49-F238E27FC236}">
                <a16:creationId xmlns:a16="http://schemas.microsoft.com/office/drawing/2014/main" id="{DAA06E76-BE9D-95EB-0FBD-A3DBAE385B54}"/>
              </a:ext>
            </a:extLst>
          </p:cNvPr>
          <p:cNvSpPr txBox="1"/>
          <p:nvPr/>
        </p:nvSpPr>
        <p:spPr>
          <a:xfrm>
            <a:off x="1786882" y="968582"/>
            <a:ext cx="1922458" cy="8239809"/>
          </a:xfrm>
          <a:prstGeom prst="rect">
            <a:avLst/>
          </a:prstGeom>
          <a:noFill/>
        </p:spPr>
        <p:txBody>
          <a:bodyPr wrap="square" bIns="7200000" rtlCol="0">
            <a:spAutoFit/>
          </a:bodyPr>
          <a:lstStyle/>
          <a:p>
            <a:r>
              <a:rPr lang="en-US" sz="6000" dirty="0">
                <a:solidFill>
                  <a:schemeClr val="bg2"/>
                </a:solidFill>
                <a:latin typeface="Times New Roman" panose="02020603050405020304" pitchFamily="18" charset="0"/>
                <a:ea typeface="Instrument Sans Medium" pitchFamily="34" charset="-122"/>
                <a:cs typeface="Times New Roman" panose="02020603050405020304" pitchFamily="18" charset="0"/>
              </a:rPr>
              <a:t>1000</a:t>
            </a:r>
            <a:endParaRPr lang="en-IN" sz="6000" dirty="0">
              <a:solidFill>
                <a:schemeClr val="bg2"/>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1504593"/>
            <a:ext cx="8366879" cy="708779"/>
          </a:xfrm>
          <a:prstGeom prst="rect">
            <a:avLst/>
          </a:prstGeom>
          <a:noFill/>
          <a:ln/>
        </p:spPr>
        <p:txBody>
          <a:bodyPr wrap="none" lIns="0" tIns="0" rIns="0" bIns="0" rtlCol="0" anchor="t"/>
          <a:lstStyle/>
          <a:p>
            <a:pPr marL="0" indent="0" algn="l">
              <a:lnSpc>
                <a:spcPts val="5550"/>
              </a:lnSpc>
              <a:buNone/>
            </a:pPr>
            <a:r>
              <a:rPr lang="en-US" sz="4450" dirty="0">
                <a:solidFill>
                  <a:schemeClr val="bg1"/>
                </a:solidFill>
                <a:latin typeface="Times New Roman" panose="02020603050405020304" pitchFamily="18" charset="0"/>
                <a:ea typeface="Instrument Sans Medium" pitchFamily="34" charset="-122"/>
                <a:cs typeface="Times New Roman" panose="02020603050405020304" pitchFamily="18" charset="0"/>
              </a:rPr>
              <a:t>Machine Learning Methodology</a:t>
            </a:r>
            <a:endParaRPr lang="en-US" sz="4450" dirty="0">
              <a:solidFill>
                <a:schemeClr val="bg1"/>
              </a:solidFill>
              <a:latin typeface="Times New Roman" panose="02020603050405020304" pitchFamily="18" charset="0"/>
              <a:cs typeface="Times New Roman" panose="02020603050405020304" pitchFamily="18" charset="0"/>
            </a:endParaRPr>
          </a:p>
        </p:txBody>
      </p:sp>
      <p:sp>
        <p:nvSpPr>
          <p:cNvPr id="3" name="Text 1"/>
          <p:cNvSpPr/>
          <p:nvPr/>
        </p:nvSpPr>
        <p:spPr>
          <a:xfrm>
            <a:off x="793790" y="2667000"/>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C7CDD6"/>
                </a:solidFill>
                <a:latin typeface="Times New Roman" panose="02020603050405020304" pitchFamily="18" charset="0"/>
                <a:ea typeface="Instrument Sans Light" pitchFamily="34" charset="-122"/>
                <a:cs typeface="Times New Roman" panose="02020603050405020304" pitchFamily="18" charset="0"/>
              </a:rPr>
              <a:t>01</a:t>
            </a:r>
            <a:endParaRPr lang="en-US" sz="1750" dirty="0">
              <a:latin typeface="Times New Roman" panose="02020603050405020304" pitchFamily="18" charset="0"/>
              <a:cs typeface="Times New Roman" panose="02020603050405020304" pitchFamily="18" charset="0"/>
            </a:endParaRPr>
          </a:p>
        </p:txBody>
      </p:sp>
      <p:sp>
        <p:nvSpPr>
          <p:cNvPr id="4" name="Shape 2"/>
          <p:cNvSpPr/>
          <p:nvPr/>
        </p:nvSpPr>
        <p:spPr>
          <a:xfrm>
            <a:off x="793790" y="3022044"/>
            <a:ext cx="6407944" cy="30480"/>
          </a:xfrm>
          <a:prstGeom prst="rect">
            <a:avLst/>
          </a:prstGeom>
          <a:solidFill>
            <a:srgbClr val="FDC4C4"/>
          </a:solidFill>
          <a:ln/>
        </p:spPr>
      </p:sp>
      <p:sp>
        <p:nvSpPr>
          <p:cNvPr id="5" name="Text 3"/>
          <p:cNvSpPr/>
          <p:nvPr/>
        </p:nvSpPr>
        <p:spPr>
          <a:xfrm>
            <a:off x="793790" y="3196352"/>
            <a:ext cx="4178022" cy="354330"/>
          </a:xfrm>
          <a:prstGeom prst="rect">
            <a:avLst/>
          </a:prstGeom>
          <a:noFill/>
          <a:ln/>
        </p:spPr>
        <p:txBody>
          <a:bodyPr wrap="none" lIns="0" tIns="0" rIns="0" bIns="0" rtlCol="0" anchor="t"/>
          <a:lstStyle/>
          <a:p>
            <a:pPr marL="0" indent="0" algn="l">
              <a:lnSpc>
                <a:spcPts val="2750"/>
              </a:lnSpc>
              <a:buNone/>
            </a:pPr>
            <a:r>
              <a:rPr lang="en-US" sz="2200" dirty="0">
                <a:solidFill>
                  <a:srgbClr val="C7CDD6"/>
                </a:solidFill>
                <a:latin typeface="Times New Roman" panose="02020603050405020304" pitchFamily="18" charset="0"/>
                <a:ea typeface="Instrument Sans Medium" pitchFamily="34" charset="-122"/>
                <a:cs typeface="Times New Roman" panose="02020603050405020304" pitchFamily="18" charset="0"/>
              </a:rPr>
              <a:t>Random Forest Implementation</a:t>
            </a:r>
            <a:endParaRPr lang="en-US" sz="2200" dirty="0">
              <a:latin typeface="Times New Roman" panose="02020603050405020304" pitchFamily="18" charset="0"/>
              <a:cs typeface="Times New Roman" panose="02020603050405020304" pitchFamily="18" charset="0"/>
            </a:endParaRPr>
          </a:p>
        </p:txBody>
      </p:sp>
      <p:sp>
        <p:nvSpPr>
          <p:cNvPr id="6" name="Text 4"/>
          <p:cNvSpPr/>
          <p:nvPr/>
        </p:nvSpPr>
        <p:spPr>
          <a:xfrm>
            <a:off x="793790" y="3686770"/>
            <a:ext cx="6407944" cy="725805"/>
          </a:xfrm>
          <a:prstGeom prst="rect">
            <a:avLst/>
          </a:prstGeom>
          <a:noFill/>
          <a:ln/>
        </p:spPr>
        <p:txBody>
          <a:bodyPr wrap="square" lIns="0" tIns="0" rIns="0" bIns="0" rtlCol="0" anchor="t"/>
          <a:lstStyle/>
          <a:p>
            <a:pPr marL="0" indent="0" algn="l">
              <a:lnSpc>
                <a:spcPts val="2850"/>
              </a:lnSpc>
              <a:buNone/>
            </a:pPr>
            <a:r>
              <a:rPr lang="en-US" sz="1750" dirty="0">
                <a:solidFill>
                  <a:srgbClr val="C7CDD6"/>
                </a:solidFill>
                <a:latin typeface="Times New Roman" panose="02020603050405020304" pitchFamily="18" charset="0"/>
                <a:ea typeface="Inter" pitchFamily="34" charset="-122"/>
                <a:cs typeface="Times New Roman" panose="02020603050405020304" pitchFamily="18" charset="0"/>
              </a:rPr>
              <a:t>Ensemble learning approach combining multiple decision trees for robust predictions and reduced overfitting</a:t>
            </a:r>
            <a:endParaRPr lang="en-US" sz="1750" dirty="0">
              <a:latin typeface="Times New Roman" panose="02020603050405020304" pitchFamily="18" charset="0"/>
              <a:cs typeface="Times New Roman" panose="02020603050405020304" pitchFamily="18" charset="0"/>
            </a:endParaRPr>
          </a:p>
        </p:txBody>
      </p:sp>
      <p:sp>
        <p:nvSpPr>
          <p:cNvPr id="7" name="Text 5"/>
          <p:cNvSpPr/>
          <p:nvPr/>
        </p:nvSpPr>
        <p:spPr>
          <a:xfrm>
            <a:off x="7428548" y="2667000"/>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C7CDD6"/>
                </a:solidFill>
                <a:latin typeface="Times New Roman" panose="02020603050405020304" pitchFamily="18" charset="0"/>
                <a:ea typeface="Instrument Sans Light" pitchFamily="34" charset="-122"/>
                <a:cs typeface="Times New Roman" panose="02020603050405020304" pitchFamily="18" charset="0"/>
              </a:rPr>
              <a:t>02</a:t>
            </a:r>
            <a:endParaRPr lang="en-US" sz="1750" dirty="0">
              <a:latin typeface="Times New Roman" panose="02020603050405020304" pitchFamily="18" charset="0"/>
              <a:cs typeface="Times New Roman" panose="02020603050405020304" pitchFamily="18" charset="0"/>
            </a:endParaRPr>
          </a:p>
        </p:txBody>
      </p:sp>
      <p:sp>
        <p:nvSpPr>
          <p:cNvPr id="8" name="Shape 6"/>
          <p:cNvSpPr/>
          <p:nvPr/>
        </p:nvSpPr>
        <p:spPr>
          <a:xfrm>
            <a:off x="7428548" y="3022044"/>
            <a:ext cx="6408063" cy="30480"/>
          </a:xfrm>
          <a:prstGeom prst="rect">
            <a:avLst/>
          </a:prstGeom>
          <a:solidFill>
            <a:srgbClr val="FDC4C4"/>
          </a:solidFill>
          <a:ln/>
        </p:spPr>
      </p:sp>
      <p:sp>
        <p:nvSpPr>
          <p:cNvPr id="9" name="Text 7"/>
          <p:cNvSpPr/>
          <p:nvPr/>
        </p:nvSpPr>
        <p:spPr>
          <a:xfrm>
            <a:off x="7428548" y="3196352"/>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C7CDD6"/>
                </a:solidFill>
                <a:latin typeface="Times New Roman" panose="02020603050405020304" pitchFamily="18" charset="0"/>
                <a:ea typeface="Instrument Sans Medium" pitchFamily="34" charset="-122"/>
                <a:cs typeface="Times New Roman" panose="02020603050405020304" pitchFamily="18" charset="0"/>
              </a:rPr>
              <a:t>Data Stratification</a:t>
            </a:r>
            <a:endParaRPr lang="en-US" sz="2200" dirty="0">
              <a:latin typeface="Times New Roman" panose="02020603050405020304" pitchFamily="18" charset="0"/>
              <a:cs typeface="Times New Roman" panose="02020603050405020304" pitchFamily="18" charset="0"/>
            </a:endParaRPr>
          </a:p>
        </p:txBody>
      </p:sp>
      <p:sp>
        <p:nvSpPr>
          <p:cNvPr id="10" name="Text 8"/>
          <p:cNvSpPr/>
          <p:nvPr/>
        </p:nvSpPr>
        <p:spPr>
          <a:xfrm>
            <a:off x="7428548" y="3686770"/>
            <a:ext cx="6408063" cy="725805"/>
          </a:xfrm>
          <a:prstGeom prst="rect">
            <a:avLst/>
          </a:prstGeom>
          <a:noFill/>
          <a:ln/>
        </p:spPr>
        <p:txBody>
          <a:bodyPr wrap="square" lIns="0" tIns="0" rIns="0" bIns="0" rtlCol="0" anchor="t"/>
          <a:lstStyle/>
          <a:p>
            <a:pPr marL="0" indent="0" algn="l">
              <a:lnSpc>
                <a:spcPts val="2850"/>
              </a:lnSpc>
              <a:buNone/>
            </a:pPr>
            <a:r>
              <a:rPr lang="en-US" sz="1750" dirty="0">
                <a:solidFill>
                  <a:srgbClr val="C7CDD6"/>
                </a:solidFill>
                <a:latin typeface="Times New Roman" panose="02020603050405020304" pitchFamily="18" charset="0"/>
                <a:ea typeface="Inter" pitchFamily="34" charset="-122"/>
                <a:cs typeface="Times New Roman" panose="02020603050405020304" pitchFamily="18" charset="0"/>
              </a:rPr>
              <a:t>70-30 train-test split maintaining class distribution balance for unbiased model evaluation</a:t>
            </a:r>
            <a:endParaRPr lang="en-US" sz="1750" dirty="0">
              <a:latin typeface="Times New Roman" panose="02020603050405020304" pitchFamily="18" charset="0"/>
              <a:cs typeface="Times New Roman" panose="02020603050405020304" pitchFamily="18" charset="0"/>
            </a:endParaRPr>
          </a:p>
        </p:txBody>
      </p:sp>
      <p:sp>
        <p:nvSpPr>
          <p:cNvPr id="11" name="Text 9"/>
          <p:cNvSpPr/>
          <p:nvPr/>
        </p:nvSpPr>
        <p:spPr>
          <a:xfrm>
            <a:off x="793790" y="4809411"/>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C7CDD6"/>
                </a:solidFill>
                <a:latin typeface="Times New Roman" panose="02020603050405020304" pitchFamily="18" charset="0"/>
                <a:ea typeface="Instrument Sans Light" pitchFamily="34" charset="-122"/>
                <a:cs typeface="Times New Roman" panose="02020603050405020304" pitchFamily="18" charset="0"/>
              </a:rPr>
              <a:t>03</a:t>
            </a:r>
            <a:endParaRPr lang="en-US" sz="1750" dirty="0">
              <a:latin typeface="Times New Roman" panose="02020603050405020304" pitchFamily="18" charset="0"/>
              <a:cs typeface="Times New Roman" panose="02020603050405020304" pitchFamily="18" charset="0"/>
            </a:endParaRPr>
          </a:p>
        </p:txBody>
      </p:sp>
      <p:sp>
        <p:nvSpPr>
          <p:cNvPr id="12" name="Shape 10"/>
          <p:cNvSpPr/>
          <p:nvPr/>
        </p:nvSpPr>
        <p:spPr>
          <a:xfrm>
            <a:off x="793790" y="5164455"/>
            <a:ext cx="6407944" cy="30480"/>
          </a:xfrm>
          <a:prstGeom prst="rect">
            <a:avLst/>
          </a:prstGeom>
          <a:solidFill>
            <a:srgbClr val="FDC4C4"/>
          </a:solidFill>
          <a:ln/>
        </p:spPr>
      </p:sp>
      <p:sp>
        <p:nvSpPr>
          <p:cNvPr id="13" name="Text 11"/>
          <p:cNvSpPr/>
          <p:nvPr/>
        </p:nvSpPr>
        <p:spPr>
          <a:xfrm>
            <a:off x="793790" y="5338763"/>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C7CDD6"/>
                </a:solidFill>
                <a:latin typeface="Times New Roman" panose="02020603050405020304" pitchFamily="18" charset="0"/>
                <a:ea typeface="Instrument Sans Medium" pitchFamily="34" charset="-122"/>
                <a:cs typeface="Times New Roman" panose="02020603050405020304" pitchFamily="18" charset="0"/>
              </a:rPr>
              <a:t>Feature Engineering</a:t>
            </a:r>
            <a:endParaRPr lang="en-US" sz="2200" dirty="0">
              <a:latin typeface="Times New Roman" panose="02020603050405020304" pitchFamily="18" charset="0"/>
              <a:cs typeface="Times New Roman" panose="02020603050405020304" pitchFamily="18" charset="0"/>
            </a:endParaRPr>
          </a:p>
        </p:txBody>
      </p:sp>
      <p:sp>
        <p:nvSpPr>
          <p:cNvPr id="14" name="Text 12"/>
          <p:cNvSpPr/>
          <p:nvPr/>
        </p:nvSpPr>
        <p:spPr>
          <a:xfrm>
            <a:off x="793790" y="5829181"/>
            <a:ext cx="6407944" cy="725805"/>
          </a:xfrm>
          <a:prstGeom prst="rect">
            <a:avLst/>
          </a:prstGeom>
          <a:noFill/>
          <a:ln/>
        </p:spPr>
        <p:txBody>
          <a:bodyPr wrap="square" lIns="0" tIns="0" rIns="0" bIns="0" rtlCol="0" anchor="t"/>
          <a:lstStyle/>
          <a:p>
            <a:pPr marL="0" indent="0" algn="l">
              <a:lnSpc>
                <a:spcPts val="2850"/>
              </a:lnSpc>
              <a:buNone/>
            </a:pPr>
            <a:r>
              <a:rPr lang="en-US" sz="1750" dirty="0">
                <a:solidFill>
                  <a:srgbClr val="C7CDD6"/>
                </a:solidFill>
                <a:latin typeface="Times New Roman" panose="02020603050405020304" pitchFamily="18" charset="0"/>
                <a:ea typeface="Inter" pitchFamily="34" charset="-122"/>
                <a:cs typeface="Times New Roman" panose="02020603050405020304" pitchFamily="18" charset="0"/>
              </a:rPr>
              <a:t>Comprehensive scaling and cross-validation techniques ensuring optimal model performance</a:t>
            </a:r>
            <a:endParaRPr lang="en-US" sz="1750" dirty="0">
              <a:latin typeface="Times New Roman" panose="02020603050405020304" pitchFamily="18" charset="0"/>
              <a:cs typeface="Times New Roman" panose="02020603050405020304" pitchFamily="18" charset="0"/>
            </a:endParaRPr>
          </a:p>
        </p:txBody>
      </p:sp>
      <p:sp>
        <p:nvSpPr>
          <p:cNvPr id="15" name="Text 13"/>
          <p:cNvSpPr/>
          <p:nvPr/>
        </p:nvSpPr>
        <p:spPr>
          <a:xfrm>
            <a:off x="7428548" y="4809411"/>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C7CDD6"/>
                </a:solidFill>
                <a:latin typeface="Times New Roman" panose="02020603050405020304" pitchFamily="18" charset="0"/>
                <a:ea typeface="Instrument Sans Light" pitchFamily="34" charset="-122"/>
                <a:cs typeface="Times New Roman" panose="02020603050405020304" pitchFamily="18" charset="0"/>
              </a:rPr>
              <a:t>04</a:t>
            </a:r>
            <a:endParaRPr lang="en-US" sz="1750" dirty="0">
              <a:latin typeface="Times New Roman" panose="02020603050405020304" pitchFamily="18" charset="0"/>
              <a:cs typeface="Times New Roman" panose="02020603050405020304" pitchFamily="18" charset="0"/>
            </a:endParaRPr>
          </a:p>
        </p:txBody>
      </p:sp>
      <p:sp>
        <p:nvSpPr>
          <p:cNvPr id="16" name="Shape 14"/>
          <p:cNvSpPr/>
          <p:nvPr/>
        </p:nvSpPr>
        <p:spPr>
          <a:xfrm>
            <a:off x="7428548" y="5164455"/>
            <a:ext cx="6408063" cy="30480"/>
          </a:xfrm>
          <a:prstGeom prst="rect">
            <a:avLst/>
          </a:prstGeom>
          <a:solidFill>
            <a:srgbClr val="FDC4C4"/>
          </a:solidFill>
          <a:ln/>
        </p:spPr>
      </p:sp>
      <p:sp>
        <p:nvSpPr>
          <p:cNvPr id="17" name="Text 15"/>
          <p:cNvSpPr/>
          <p:nvPr/>
        </p:nvSpPr>
        <p:spPr>
          <a:xfrm>
            <a:off x="7428548" y="5338763"/>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C7CDD6"/>
                </a:solidFill>
                <a:latin typeface="Times New Roman" panose="02020603050405020304" pitchFamily="18" charset="0"/>
                <a:ea typeface="Instrument Sans Medium" pitchFamily="34" charset="-122"/>
                <a:cs typeface="Times New Roman" panose="02020603050405020304" pitchFamily="18" charset="0"/>
              </a:rPr>
              <a:t>Python Integration</a:t>
            </a:r>
            <a:endParaRPr lang="en-US" sz="2200" dirty="0">
              <a:latin typeface="Times New Roman" panose="02020603050405020304" pitchFamily="18" charset="0"/>
              <a:cs typeface="Times New Roman" panose="02020603050405020304" pitchFamily="18" charset="0"/>
            </a:endParaRPr>
          </a:p>
        </p:txBody>
      </p:sp>
      <p:sp>
        <p:nvSpPr>
          <p:cNvPr id="18" name="Text 16"/>
          <p:cNvSpPr/>
          <p:nvPr/>
        </p:nvSpPr>
        <p:spPr>
          <a:xfrm>
            <a:off x="7428548" y="5829181"/>
            <a:ext cx="6408063" cy="725805"/>
          </a:xfrm>
          <a:prstGeom prst="rect">
            <a:avLst/>
          </a:prstGeom>
          <a:noFill/>
          <a:ln/>
        </p:spPr>
        <p:txBody>
          <a:bodyPr wrap="square" lIns="0" tIns="0" rIns="0" bIns="0" rtlCol="0" anchor="t"/>
          <a:lstStyle/>
          <a:p>
            <a:pPr marL="0" indent="0" algn="l">
              <a:lnSpc>
                <a:spcPts val="2850"/>
              </a:lnSpc>
              <a:buNone/>
            </a:pPr>
            <a:r>
              <a:rPr lang="en-US" sz="1750" dirty="0">
                <a:solidFill>
                  <a:srgbClr val="C7CDD6"/>
                </a:solidFill>
                <a:latin typeface="Times New Roman" panose="02020603050405020304" pitchFamily="18" charset="0"/>
                <a:ea typeface="Inter" pitchFamily="34" charset="-122"/>
                <a:cs typeface="Times New Roman" panose="02020603050405020304" pitchFamily="18" charset="0"/>
              </a:rPr>
              <a:t>Scikit-learn framework providing reliable, industry-standard machine learning capabilities</a:t>
            </a:r>
            <a:endParaRPr lang="en-US" sz="1750" dirty="0">
              <a:latin typeface="Times New Roman" panose="02020603050405020304" pitchFamily="18" charset="0"/>
              <a:cs typeface="Times New Roman" panose="02020603050405020304" pitchFamily="18" charset="0"/>
            </a:endParaRPr>
          </a:p>
        </p:txBody>
      </p:sp>
      <p:pic>
        <p:nvPicPr>
          <p:cNvPr id="20" name="Picture 19">
            <a:extLst>
              <a:ext uri="{FF2B5EF4-FFF2-40B4-BE49-F238E27FC236}">
                <a16:creationId xmlns:a16="http://schemas.microsoft.com/office/drawing/2014/main" id="{4A14EC8D-8122-F1CA-7F0F-AF96753A45ED}"/>
              </a:ext>
            </a:extLst>
          </p:cNvPr>
          <p:cNvPicPr>
            <a:picLocks noChangeAspect="1"/>
          </p:cNvPicPr>
          <p:nvPr/>
        </p:nvPicPr>
        <p:blipFill>
          <a:blip r:embed="rId3"/>
          <a:stretch>
            <a:fillRect/>
          </a:stretch>
        </p:blipFill>
        <p:spPr>
          <a:xfrm>
            <a:off x="12753713" y="7742030"/>
            <a:ext cx="1876687" cy="40010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p:nvPr/>
        </p:nvSpPr>
        <p:spPr>
          <a:xfrm>
            <a:off x="542504" y="354092"/>
            <a:ext cx="7556421" cy="1417558"/>
          </a:xfrm>
          <a:prstGeom prst="rect">
            <a:avLst/>
          </a:prstGeom>
          <a:noFill/>
          <a:ln/>
        </p:spPr>
        <p:txBody>
          <a:bodyPr wrap="square" lIns="0" tIns="0" rIns="0" bIns="0" rtlCol="0" anchor="t"/>
          <a:lstStyle/>
          <a:p>
            <a:pPr marL="0" indent="0" algn="l">
              <a:lnSpc>
                <a:spcPts val="5550"/>
              </a:lnSpc>
              <a:buNone/>
            </a:pPr>
            <a:r>
              <a:rPr lang="en-US" sz="4450" dirty="0">
                <a:solidFill>
                  <a:schemeClr val="bg1"/>
                </a:solidFill>
                <a:latin typeface="Times New Roman" panose="02020603050405020304" pitchFamily="18" charset="0"/>
                <a:ea typeface="Instrument Sans Medium" pitchFamily="34" charset="-122"/>
                <a:cs typeface="Times New Roman" panose="02020603050405020304" pitchFamily="18" charset="0"/>
              </a:rPr>
              <a:t>System Architecture Overview</a:t>
            </a:r>
            <a:endParaRPr lang="en-US" sz="4450" dirty="0">
              <a:solidFill>
                <a:schemeClr val="bg1"/>
              </a:solidFill>
              <a:latin typeface="Times New Roman" panose="02020603050405020304" pitchFamily="18" charset="0"/>
              <a:cs typeface="Times New Roman" panose="02020603050405020304" pitchFamily="18" charset="0"/>
            </a:endParaRPr>
          </a:p>
        </p:txBody>
      </p:sp>
      <p:pic>
        <p:nvPicPr>
          <p:cNvPr id="4" name="Image 1" descr="preencoded.png"/>
          <p:cNvPicPr>
            <a:picLocks noChangeAspect="1"/>
          </p:cNvPicPr>
          <p:nvPr/>
        </p:nvPicPr>
        <p:blipFill>
          <a:blip r:embed="rId3"/>
          <a:stretch>
            <a:fillRect/>
          </a:stretch>
        </p:blipFill>
        <p:spPr>
          <a:xfrm>
            <a:off x="982254" y="2262068"/>
            <a:ext cx="1134070" cy="1669852"/>
          </a:xfrm>
          <a:prstGeom prst="rect">
            <a:avLst/>
          </a:prstGeom>
        </p:spPr>
      </p:pic>
      <p:sp>
        <p:nvSpPr>
          <p:cNvPr id="5" name="Text 1"/>
          <p:cNvSpPr/>
          <p:nvPr/>
        </p:nvSpPr>
        <p:spPr>
          <a:xfrm>
            <a:off x="2524622" y="2361367"/>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C7CDD6"/>
                </a:solidFill>
                <a:latin typeface="Times New Roman" panose="02020603050405020304" pitchFamily="18" charset="0"/>
                <a:ea typeface="Instrument Sans Medium" pitchFamily="34" charset="-122"/>
                <a:cs typeface="Times New Roman" panose="02020603050405020304" pitchFamily="18" charset="0"/>
              </a:rPr>
              <a:t>Tkinter GUI</a:t>
            </a:r>
            <a:endParaRPr lang="en-US" sz="2200" dirty="0">
              <a:latin typeface="Times New Roman" panose="02020603050405020304" pitchFamily="18" charset="0"/>
              <a:cs typeface="Times New Roman" panose="02020603050405020304" pitchFamily="18" charset="0"/>
            </a:endParaRPr>
          </a:p>
        </p:txBody>
      </p:sp>
      <p:sp>
        <p:nvSpPr>
          <p:cNvPr id="6" name="Text 2"/>
          <p:cNvSpPr/>
          <p:nvPr/>
        </p:nvSpPr>
        <p:spPr>
          <a:xfrm>
            <a:off x="2524622" y="2929183"/>
            <a:ext cx="8092190" cy="725805"/>
          </a:xfrm>
          <a:prstGeom prst="rect">
            <a:avLst/>
          </a:prstGeom>
          <a:noFill/>
          <a:ln/>
        </p:spPr>
        <p:txBody>
          <a:bodyPr wrap="square" lIns="0" tIns="0" rIns="0" bIns="0" rtlCol="0" anchor="t"/>
          <a:lstStyle/>
          <a:p>
            <a:pPr marL="342900" indent="-342900">
              <a:buFont typeface="Arial" panose="020B0604020202020204" pitchFamily="34" charset="0"/>
              <a:buChar char="•"/>
            </a:pPr>
            <a:r>
              <a:rPr lang="en-US" sz="2000" dirty="0">
                <a:solidFill>
                  <a:schemeClr val="bg2"/>
                </a:solidFill>
                <a:latin typeface="Times New Roman" panose="02020603050405020304" pitchFamily="18" charset="0"/>
                <a:cs typeface="Times New Roman" panose="02020603050405020304" pitchFamily="18" charset="0"/>
              </a:rPr>
              <a:t>Provides an intuitive layout for entering patient health parameters</a:t>
            </a:r>
          </a:p>
          <a:p>
            <a:pPr marL="342900" indent="-342900">
              <a:buFont typeface="Arial" panose="020B0604020202020204" pitchFamily="34" charset="0"/>
              <a:buChar char="•"/>
            </a:pPr>
            <a:r>
              <a:rPr lang="en-US" sz="2000" dirty="0">
                <a:solidFill>
                  <a:schemeClr val="bg2"/>
                </a:solidFill>
                <a:latin typeface="Times New Roman" panose="02020603050405020304" pitchFamily="18" charset="0"/>
                <a:cs typeface="Times New Roman" panose="02020603050405020304" pitchFamily="18" charset="0"/>
              </a:rPr>
              <a:t>Includes input validation to ensure accurate data collection</a:t>
            </a:r>
          </a:p>
        </p:txBody>
      </p:sp>
      <p:pic>
        <p:nvPicPr>
          <p:cNvPr id="7" name="Image 2" descr="preencoded.png"/>
          <p:cNvPicPr>
            <a:picLocks noChangeAspect="1"/>
          </p:cNvPicPr>
          <p:nvPr/>
        </p:nvPicPr>
        <p:blipFill>
          <a:blip r:embed="rId4"/>
          <a:stretch>
            <a:fillRect/>
          </a:stretch>
        </p:blipFill>
        <p:spPr>
          <a:xfrm>
            <a:off x="982254" y="4353498"/>
            <a:ext cx="1134070" cy="1669852"/>
          </a:xfrm>
          <a:prstGeom prst="rect">
            <a:avLst/>
          </a:prstGeom>
        </p:spPr>
      </p:pic>
      <p:sp>
        <p:nvSpPr>
          <p:cNvPr id="8" name="Text 3"/>
          <p:cNvSpPr/>
          <p:nvPr/>
        </p:nvSpPr>
        <p:spPr>
          <a:xfrm>
            <a:off x="2524622" y="4401520"/>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C7CDD6"/>
                </a:solidFill>
                <a:latin typeface="Times New Roman" panose="02020603050405020304" pitchFamily="18" charset="0"/>
                <a:ea typeface="Instrument Sans Medium" pitchFamily="34" charset="-122"/>
                <a:cs typeface="Times New Roman" panose="02020603050405020304" pitchFamily="18" charset="0"/>
              </a:rPr>
              <a:t>Python Pipeline</a:t>
            </a:r>
            <a:endParaRPr lang="en-US" sz="2200" dirty="0">
              <a:latin typeface="Times New Roman" panose="02020603050405020304" pitchFamily="18" charset="0"/>
              <a:cs typeface="Times New Roman" panose="02020603050405020304" pitchFamily="18" charset="0"/>
            </a:endParaRPr>
          </a:p>
        </p:txBody>
      </p:sp>
      <p:sp>
        <p:nvSpPr>
          <p:cNvPr id="9" name="Text 4"/>
          <p:cNvSpPr/>
          <p:nvPr/>
        </p:nvSpPr>
        <p:spPr>
          <a:xfrm>
            <a:off x="2524622" y="5034736"/>
            <a:ext cx="8894908" cy="725805"/>
          </a:xfrm>
          <a:prstGeom prst="rect">
            <a:avLst/>
          </a:prstGeom>
          <a:noFill/>
          <a:ln/>
        </p:spPr>
        <p:txBody>
          <a:bodyPr wrap="square" lIns="0" tIns="0" rIns="0" bIns="0" rtlCol="0" anchor="t"/>
          <a:lstStyle/>
          <a:p>
            <a:pPr marL="342900" indent="-342900">
              <a:buFont typeface="Arial" panose="020B0604020202020204" pitchFamily="34" charset="0"/>
              <a:buChar char="•"/>
            </a:pPr>
            <a:r>
              <a:rPr lang="en-US" sz="2000" dirty="0">
                <a:solidFill>
                  <a:schemeClr val="bg2"/>
                </a:solidFill>
                <a:latin typeface="Times New Roman" panose="02020603050405020304" pitchFamily="18" charset="0"/>
                <a:cs typeface="Times New Roman" panose="02020603050405020304" pitchFamily="18" charset="0"/>
              </a:rPr>
              <a:t>Performs data preprocessing (handling missing values, normalization, feature selection)</a:t>
            </a:r>
          </a:p>
          <a:p>
            <a:pPr marL="342900" indent="-342900">
              <a:buFont typeface="Arial" panose="020B0604020202020204" pitchFamily="34" charset="0"/>
              <a:buChar char="•"/>
            </a:pPr>
            <a:r>
              <a:rPr lang="en-US" sz="2000" dirty="0">
                <a:solidFill>
                  <a:schemeClr val="bg2"/>
                </a:solidFill>
                <a:latin typeface="Times New Roman" panose="02020603050405020304" pitchFamily="18" charset="0"/>
                <a:cs typeface="Times New Roman" panose="02020603050405020304" pitchFamily="18" charset="0"/>
              </a:rPr>
              <a:t>Integrates machine learning models like Logistic Regression and Decision Trees</a:t>
            </a:r>
          </a:p>
        </p:txBody>
      </p:sp>
      <p:pic>
        <p:nvPicPr>
          <p:cNvPr id="10" name="Image 3" descr="preencoded.png"/>
          <p:cNvPicPr>
            <a:picLocks noChangeAspect="1"/>
          </p:cNvPicPr>
          <p:nvPr/>
        </p:nvPicPr>
        <p:blipFill>
          <a:blip r:embed="rId5"/>
          <a:stretch>
            <a:fillRect/>
          </a:stretch>
        </p:blipFill>
        <p:spPr>
          <a:xfrm>
            <a:off x="982254" y="6345117"/>
            <a:ext cx="1134070" cy="1669852"/>
          </a:xfrm>
          <a:prstGeom prst="rect">
            <a:avLst/>
          </a:prstGeom>
        </p:spPr>
      </p:pic>
      <p:sp>
        <p:nvSpPr>
          <p:cNvPr id="11" name="Text 5"/>
          <p:cNvSpPr/>
          <p:nvPr/>
        </p:nvSpPr>
        <p:spPr>
          <a:xfrm>
            <a:off x="2524621" y="6345117"/>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C7CDD6"/>
                </a:solidFill>
                <a:latin typeface="Times New Roman" panose="02020603050405020304" pitchFamily="18" charset="0"/>
                <a:ea typeface="Instrument Sans Medium" pitchFamily="34" charset="-122"/>
                <a:cs typeface="Times New Roman" panose="02020603050405020304" pitchFamily="18" charset="0"/>
              </a:rPr>
              <a:t>Clinical Output</a:t>
            </a:r>
            <a:endParaRPr lang="en-US" sz="2200" dirty="0">
              <a:latin typeface="Times New Roman" panose="02020603050405020304" pitchFamily="18" charset="0"/>
              <a:cs typeface="Times New Roman" panose="02020603050405020304" pitchFamily="18" charset="0"/>
            </a:endParaRPr>
          </a:p>
        </p:txBody>
      </p:sp>
      <p:sp>
        <p:nvSpPr>
          <p:cNvPr id="12" name="Text 6"/>
          <p:cNvSpPr/>
          <p:nvPr/>
        </p:nvSpPr>
        <p:spPr>
          <a:xfrm>
            <a:off x="2524620" y="6986905"/>
            <a:ext cx="10660887" cy="725805"/>
          </a:xfrm>
          <a:prstGeom prst="rect">
            <a:avLst/>
          </a:prstGeom>
          <a:noFill/>
          <a:ln/>
        </p:spPr>
        <p:txBody>
          <a:bodyPr wrap="square" lIns="0" tIns="0" rIns="0" bIns="0" rtlCol="0" anchor="t"/>
          <a:lstStyle/>
          <a:p>
            <a:pPr marL="342900" indent="-342900">
              <a:buFont typeface="Arial" panose="020B0604020202020204" pitchFamily="34" charset="0"/>
              <a:buChar char="•"/>
            </a:pPr>
            <a:r>
              <a:rPr lang="en-US" sz="2000" dirty="0">
                <a:solidFill>
                  <a:schemeClr val="bg2"/>
                </a:solidFill>
              </a:rPr>
              <a:t>Displays prediction outcome (High Risk / Low Risk) clearly</a:t>
            </a:r>
          </a:p>
          <a:p>
            <a:pPr marL="342900" indent="-342900">
              <a:buFont typeface="Arial" panose="020B0604020202020204" pitchFamily="34" charset="0"/>
              <a:buChar char="•"/>
            </a:pPr>
            <a:r>
              <a:rPr lang="en-US" sz="2000" dirty="0">
                <a:solidFill>
                  <a:schemeClr val="bg2"/>
                </a:solidFill>
              </a:rPr>
              <a:t>Provides probability scores for better understanding</a:t>
            </a:r>
          </a:p>
        </p:txBody>
      </p:sp>
      <p:pic>
        <p:nvPicPr>
          <p:cNvPr id="14" name="Picture 13">
            <a:extLst>
              <a:ext uri="{FF2B5EF4-FFF2-40B4-BE49-F238E27FC236}">
                <a16:creationId xmlns:a16="http://schemas.microsoft.com/office/drawing/2014/main" id="{E4C65E5B-F140-9B7E-31A3-16E844206032}"/>
              </a:ext>
            </a:extLst>
          </p:cNvPr>
          <p:cNvPicPr>
            <a:picLocks noChangeAspect="1"/>
          </p:cNvPicPr>
          <p:nvPr/>
        </p:nvPicPr>
        <p:blipFill>
          <a:blip r:embed="rId6"/>
          <a:stretch>
            <a:fillRect/>
          </a:stretch>
        </p:blipFill>
        <p:spPr>
          <a:xfrm>
            <a:off x="12753713" y="7704322"/>
            <a:ext cx="1876687" cy="40010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78406" y="454462"/>
            <a:ext cx="5874544" cy="516374"/>
          </a:xfrm>
          <a:prstGeom prst="rect">
            <a:avLst/>
          </a:prstGeom>
          <a:noFill/>
          <a:ln/>
        </p:spPr>
        <p:txBody>
          <a:bodyPr wrap="none" lIns="0" tIns="0" rIns="0" bIns="0" rtlCol="0" anchor="t"/>
          <a:lstStyle/>
          <a:p>
            <a:pPr marL="0" indent="0" algn="l">
              <a:lnSpc>
                <a:spcPts val="4050"/>
              </a:lnSpc>
              <a:buNone/>
            </a:pPr>
            <a:r>
              <a:rPr lang="en-US" sz="3250" dirty="0">
                <a:solidFill>
                  <a:schemeClr val="bg1"/>
                </a:solidFill>
                <a:latin typeface="Instrument Sans Medium" pitchFamily="34" charset="0"/>
                <a:ea typeface="Instrument Sans Medium" pitchFamily="34" charset="-122"/>
                <a:cs typeface="Instrument Sans Medium" pitchFamily="34" charset="-120"/>
              </a:rPr>
              <a:t>Clinical Parameters &amp; Features</a:t>
            </a:r>
            <a:endParaRPr lang="en-US" sz="3250" dirty="0">
              <a:solidFill>
                <a:schemeClr val="bg1"/>
              </a:solidFill>
            </a:endParaRPr>
          </a:p>
        </p:txBody>
      </p:sp>
      <p:sp>
        <p:nvSpPr>
          <p:cNvPr id="3" name="Text 1"/>
          <p:cNvSpPr/>
          <p:nvPr/>
        </p:nvSpPr>
        <p:spPr>
          <a:xfrm>
            <a:off x="608112" y="1383983"/>
            <a:ext cx="2576155" cy="309801"/>
          </a:xfrm>
          <a:prstGeom prst="rect">
            <a:avLst/>
          </a:prstGeom>
          <a:noFill/>
          <a:ln/>
        </p:spPr>
        <p:txBody>
          <a:bodyPr wrap="none" lIns="0" tIns="0" rIns="0" bIns="0" rtlCol="0" anchor="t"/>
          <a:lstStyle/>
          <a:p>
            <a:pPr marL="0" indent="0" algn="l">
              <a:lnSpc>
                <a:spcPts val="2400"/>
              </a:lnSpc>
              <a:buNone/>
            </a:pPr>
            <a:r>
              <a:rPr lang="en-US" sz="1950" dirty="0">
                <a:solidFill>
                  <a:schemeClr val="bg1"/>
                </a:solidFill>
                <a:latin typeface="Instrument Sans Medium" pitchFamily="34" charset="0"/>
                <a:ea typeface="Instrument Sans Medium" pitchFamily="34" charset="-122"/>
                <a:cs typeface="Instrument Sans Medium" pitchFamily="34" charset="-120"/>
              </a:rPr>
              <a:t>Patient Demographics</a:t>
            </a:r>
            <a:endParaRPr lang="en-US" sz="1950" dirty="0">
              <a:solidFill>
                <a:schemeClr val="bg1"/>
              </a:solidFill>
            </a:endParaRPr>
          </a:p>
        </p:txBody>
      </p:sp>
      <p:sp>
        <p:nvSpPr>
          <p:cNvPr id="4" name="Text 2"/>
          <p:cNvSpPr/>
          <p:nvPr/>
        </p:nvSpPr>
        <p:spPr>
          <a:xfrm>
            <a:off x="578406" y="1859042"/>
            <a:ext cx="6535222" cy="264319"/>
          </a:xfrm>
          <a:prstGeom prst="rect">
            <a:avLst/>
          </a:prstGeom>
          <a:noFill/>
          <a:ln/>
        </p:spPr>
        <p:txBody>
          <a:bodyPr wrap="none" lIns="0" tIns="0" rIns="0" bIns="0" rtlCol="0" anchor="t"/>
          <a:lstStyle/>
          <a:p>
            <a:pPr marL="342900" indent="-342900" algn="l">
              <a:lnSpc>
                <a:spcPts val="2050"/>
              </a:lnSpc>
              <a:buSzPct val="100000"/>
              <a:buChar char="•"/>
            </a:pPr>
            <a:r>
              <a:rPr lang="en-US" sz="1300" dirty="0">
                <a:solidFill>
                  <a:srgbClr val="C7CDD6"/>
                </a:solidFill>
                <a:latin typeface="Inter" pitchFamily="34" charset="0"/>
                <a:ea typeface="Inter" pitchFamily="34" charset="-122"/>
                <a:cs typeface="Inter" pitchFamily="34" charset="-120"/>
              </a:rPr>
              <a:t>Age and biological sex</a:t>
            </a:r>
            <a:endParaRPr lang="en-US" sz="1300" dirty="0"/>
          </a:p>
        </p:txBody>
      </p:sp>
      <p:sp>
        <p:nvSpPr>
          <p:cNvPr id="5" name="Text 3"/>
          <p:cNvSpPr/>
          <p:nvPr/>
        </p:nvSpPr>
        <p:spPr>
          <a:xfrm>
            <a:off x="578406" y="2181106"/>
            <a:ext cx="6535222" cy="264319"/>
          </a:xfrm>
          <a:prstGeom prst="rect">
            <a:avLst/>
          </a:prstGeom>
          <a:noFill/>
          <a:ln/>
        </p:spPr>
        <p:txBody>
          <a:bodyPr wrap="none" lIns="0" tIns="0" rIns="0" bIns="0" rtlCol="0" anchor="t"/>
          <a:lstStyle/>
          <a:p>
            <a:pPr marL="342900" indent="-342900" algn="l">
              <a:lnSpc>
                <a:spcPts val="2050"/>
              </a:lnSpc>
              <a:buSzPct val="100000"/>
              <a:buChar char="•"/>
            </a:pPr>
            <a:r>
              <a:rPr lang="en-US" sz="1300" dirty="0">
                <a:solidFill>
                  <a:srgbClr val="C7CDD6"/>
                </a:solidFill>
                <a:latin typeface="Inter" pitchFamily="34" charset="0"/>
                <a:ea typeface="Inter" pitchFamily="34" charset="-122"/>
                <a:cs typeface="Inter" pitchFamily="34" charset="-120"/>
              </a:rPr>
              <a:t>Medical history indicators</a:t>
            </a:r>
            <a:endParaRPr lang="en-US" sz="1300" dirty="0"/>
          </a:p>
        </p:txBody>
      </p:sp>
      <p:sp>
        <p:nvSpPr>
          <p:cNvPr id="6" name="Text 4"/>
          <p:cNvSpPr/>
          <p:nvPr/>
        </p:nvSpPr>
        <p:spPr>
          <a:xfrm>
            <a:off x="578406" y="2503170"/>
            <a:ext cx="6535222" cy="264319"/>
          </a:xfrm>
          <a:prstGeom prst="rect">
            <a:avLst/>
          </a:prstGeom>
          <a:noFill/>
          <a:ln/>
        </p:spPr>
        <p:txBody>
          <a:bodyPr wrap="none" lIns="0" tIns="0" rIns="0" bIns="0" rtlCol="0" anchor="t"/>
          <a:lstStyle/>
          <a:p>
            <a:pPr marL="342900" indent="-342900" algn="l">
              <a:lnSpc>
                <a:spcPts val="2050"/>
              </a:lnSpc>
              <a:buSzPct val="100000"/>
              <a:buChar char="•"/>
            </a:pPr>
            <a:r>
              <a:rPr lang="en-US" sz="1300" dirty="0">
                <a:solidFill>
                  <a:srgbClr val="C7CDD6"/>
                </a:solidFill>
                <a:latin typeface="Inter" pitchFamily="34" charset="0"/>
                <a:ea typeface="Inter" pitchFamily="34" charset="-122"/>
                <a:cs typeface="Inter" pitchFamily="34" charset="-120"/>
              </a:rPr>
              <a:t>Lifestyle risk factors</a:t>
            </a:r>
            <a:endParaRPr lang="en-US" sz="1300" dirty="0"/>
          </a:p>
        </p:txBody>
      </p:sp>
      <p:sp>
        <p:nvSpPr>
          <p:cNvPr id="7" name="Text 5"/>
          <p:cNvSpPr/>
          <p:nvPr/>
        </p:nvSpPr>
        <p:spPr>
          <a:xfrm>
            <a:off x="578406" y="2932748"/>
            <a:ext cx="2635568" cy="309801"/>
          </a:xfrm>
          <a:prstGeom prst="rect">
            <a:avLst/>
          </a:prstGeom>
          <a:noFill/>
          <a:ln/>
        </p:spPr>
        <p:txBody>
          <a:bodyPr wrap="none" lIns="0" tIns="0" rIns="0" bIns="0" rtlCol="0" anchor="t"/>
          <a:lstStyle/>
          <a:p>
            <a:pPr marL="0" indent="0" algn="l">
              <a:lnSpc>
                <a:spcPts val="2400"/>
              </a:lnSpc>
              <a:buNone/>
            </a:pPr>
            <a:r>
              <a:rPr lang="en-US" sz="1950" dirty="0">
                <a:solidFill>
                  <a:schemeClr val="bg1"/>
                </a:solidFill>
                <a:latin typeface="Instrument Sans Medium" pitchFamily="34" charset="0"/>
                <a:ea typeface="Instrument Sans Medium" pitchFamily="34" charset="-122"/>
                <a:cs typeface="Instrument Sans Medium" pitchFamily="34" charset="-120"/>
              </a:rPr>
              <a:t>Cardiovascular Metrics</a:t>
            </a:r>
            <a:endParaRPr lang="en-US" sz="1950" dirty="0">
              <a:solidFill>
                <a:schemeClr val="bg1"/>
              </a:solidFill>
            </a:endParaRPr>
          </a:p>
        </p:txBody>
      </p:sp>
      <p:sp>
        <p:nvSpPr>
          <p:cNvPr id="8" name="Text 6"/>
          <p:cNvSpPr/>
          <p:nvPr/>
        </p:nvSpPr>
        <p:spPr>
          <a:xfrm>
            <a:off x="578406" y="3407807"/>
            <a:ext cx="6535222" cy="264319"/>
          </a:xfrm>
          <a:prstGeom prst="rect">
            <a:avLst/>
          </a:prstGeom>
          <a:noFill/>
          <a:ln/>
        </p:spPr>
        <p:txBody>
          <a:bodyPr wrap="none" lIns="0" tIns="0" rIns="0" bIns="0" rtlCol="0" anchor="t"/>
          <a:lstStyle/>
          <a:p>
            <a:pPr marL="342900" indent="-342900" algn="l">
              <a:lnSpc>
                <a:spcPts val="2050"/>
              </a:lnSpc>
              <a:buSzPct val="100000"/>
              <a:buChar char="•"/>
            </a:pPr>
            <a:r>
              <a:rPr lang="en-US" sz="1300" dirty="0">
                <a:solidFill>
                  <a:srgbClr val="C7CDD6"/>
                </a:solidFill>
                <a:latin typeface="Inter" pitchFamily="34" charset="0"/>
                <a:ea typeface="Inter" pitchFamily="34" charset="-122"/>
                <a:cs typeface="Inter" pitchFamily="34" charset="-120"/>
              </a:rPr>
              <a:t>Resting blood pressure</a:t>
            </a:r>
            <a:endParaRPr lang="en-US" sz="1300" dirty="0"/>
          </a:p>
        </p:txBody>
      </p:sp>
      <p:sp>
        <p:nvSpPr>
          <p:cNvPr id="9" name="Text 7"/>
          <p:cNvSpPr/>
          <p:nvPr/>
        </p:nvSpPr>
        <p:spPr>
          <a:xfrm>
            <a:off x="578406" y="3729871"/>
            <a:ext cx="6535222" cy="264319"/>
          </a:xfrm>
          <a:prstGeom prst="rect">
            <a:avLst/>
          </a:prstGeom>
          <a:noFill/>
          <a:ln/>
        </p:spPr>
        <p:txBody>
          <a:bodyPr wrap="none" lIns="0" tIns="0" rIns="0" bIns="0" rtlCol="0" anchor="t"/>
          <a:lstStyle/>
          <a:p>
            <a:pPr marL="342900" indent="-342900" algn="l">
              <a:lnSpc>
                <a:spcPts val="2050"/>
              </a:lnSpc>
              <a:buSzPct val="100000"/>
              <a:buChar char="•"/>
            </a:pPr>
            <a:r>
              <a:rPr lang="en-US" sz="1300" dirty="0">
                <a:solidFill>
                  <a:srgbClr val="C7CDD6"/>
                </a:solidFill>
                <a:latin typeface="Inter" pitchFamily="34" charset="0"/>
                <a:ea typeface="Inter" pitchFamily="34" charset="-122"/>
                <a:cs typeface="Inter" pitchFamily="34" charset="-120"/>
              </a:rPr>
              <a:t>Serum cholesterol levels</a:t>
            </a:r>
            <a:endParaRPr lang="en-US" sz="1300" dirty="0"/>
          </a:p>
        </p:txBody>
      </p:sp>
      <p:sp>
        <p:nvSpPr>
          <p:cNvPr id="10" name="Text 8"/>
          <p:cNvSpPr/>
          <p:nvPr/>
        </p:nvSpPr>
        <p:spPr>
          <a:xfrm>
            <a:off x="578406" y="4051935"/>
            <a:ext cx="6535222" cy="264319"/>
          </a:xfrm>
          <a:prstGeom prst="rect">
            <a:avLst/>
          </a:prstGeom>
          <a:noFill/>
          <a:ln/>
        </p:spPr>
        <p:txBody>
          <a:bodyPr wrap="none" lIns="0" tIns="0" rIns="0" bIns="0" rtlCol="0" anchor="t"/>
          <a:lstStyle/>
          <a:p>
            <a:pPr marL="342900" indent="-342900" algn="l">
              <a:lnSpc>
                <a:spcPts val="2050"/>
              </a:lnSpc>
              <a:buSzPct val="100000"/>
              <a:buChar char="•"/>
            </a:pPr>
            <a:r>
              <a:rPr lang="en-US" sz="1300" dirty="0">
                <a:solidFill>
                  <a:srgbClr val="C7CDD6"/>
                </a:solidFill>
                <a:latin typeface="Inter" pitchFamily="34" charset="0"/>
                <a:ea typeface="Inter" pitchFamily="34" charset="-122"/>
                <a:cs typeface="Inter" pitchFamily="34" charset="-120"/>
              </a:rPr>
              <a:t>Maximum heart rate achieved</a:t>
            </a:r>
            <a:endParaRPr lang="en-US" sz="1300" dirty="0"/>
          </a:p>
        </p:txBody>
      </p:sp>
      <p:pic>
        <p:nvPicPr>
          <p:cNvPr id="11" name="Image 0" descr="preencoded.png"/>
          <p:cNvPicPr>
            <a:picLocks noChangeAspect="1"/>
          </p:cNvPicPr>
          <p:nvPr/>
        </p:nvPicPr>
        <p:blipFill>
          <a:blip r:embed="rId3"/>
          <a:stretch>
            <a:fillRect/>
          </a:stretch>
        </p:blipFill>
        <p:spPr>
          <a:xfrm>
            <a:off x="7419691" y="610850"/>
            <a:ext cx="6535222" cy="4953595"/>
          </a:xfrm>
          <a:prstGeom prst="rect">
            <a:avLst/>
          </a:prstGeom>
        </p:spPr>
      </p:pic>
      <p:sp>
        <p:nvSpPr>
          <p:cNvPr id="12" name="Text 9"/>
          <p:cNvSpPr/>
          <p:nvPr/>
        </p:nvSpPr>
        <p:spPr>
          <a:xfrm>
            <a:off x="578406" y="4628209"/>
            <a:ext cx="2478881" cy="309801"/>
          </a:xfrm>
          <a:prstGeom prst="rect">
            <a:avLst/>
          </a:prstGeom>
          <a:noFill/>
          <a:ln/>
        </p:spPr>
        <p:txBody>
          <a:bodyPr wrap="none" lIns="0" tIns="0" rIns="0" bIns="0" rtlCol="0" anchor="t"/>
          <a:lstStyle/>
          <a:p>
            <a:pPr marL="0" indent="0" algn="l">
              <a:lnSpc>
                <a:spcPts val="2400"/>
              </a:lnSpc>
              <a:buNone/>
            </a:pPr>
            <a:r>
              <a:rPr lang="en-US" sz="1950" dirty="0">
                <a:solidFill>
                  <a:schemeClr val="bg1"/>
                </a:solidFill>
                <a:latin typeface="Instrument Sans Medium" pitchFamily="34" charset="0"/>
                <a:ea typeface="Instrument Sans Medium" pitchFamily="34" charset="-122"/>
                <a:cs typeface="Instrument Sans Medium" pitchFamily="34" charset="-120"/>
              </a:rPr>
              <a:t>Diagnostic Indicators</a:t>
            </a:r>
            <a:endParaRPr lang="en-US" sz="1950" dirty="0">
              <a:solidFill>
                <a:schemeClr val="bg1"/>
              </a:solidFill>
            </a:endParaRPr>
          </a:p>
        </p:txBody>
      </p:sp>
      <p:sp>
        <p:nvSpPr>
          <p:cNvPr id="13" name="Text 10"/>
          <p:cNvSpPr/>
          <p:nvPr/>
        </p:nvSpPr>
        <p:spPr>
          <a:xfrm>
            <a:off x="608112" y="5011966"/>
            <a:ext cx="6535222" cy="264319"/>
          </a:xfrm>
          <a:prstGeom prst="rect">
            <a:avLst/>
          </a:prstGeom>
          <a:noFill/>
          <a:ln/>
        </p:spPr>
        <p:txBody>
          <a:bodyPr wrap="none" lIns="0" tIns="0" rIns="0" bIns="0" rtlCol="0" anchor="t"/>
          <a:lstStyle/>
          <a:p>
            <a:pPr marL="342900" indent="-342900" algn="l">
              <a:lnSpc>
                <a:spcPts val="2050"/>
              </a:lnSpc>
              <a:buSzPct val="100000"/>
              <a:buChar char="•"/>
            </a:pPr>
            <a:r>
              <a:rPr lang="en-US" sz="1300" dirty="0">
                <a:solidFill>
                  <a:srgbClr val="C7CDD6"/>
                </a:solidFill>
                <a:latin typeface="Inter" pitchFamily="34" charset="0"/>
                <a:ea typeface="Inter" pitchFamily="34" charset="-122"/>
                <a:cs typeface="Inter" pitchFamily="34" charset="-120"/>
              </a:rPr>
              <a:t>Chest pain classification</a:t>
            </a:r>
            <a:endParaRPr lang="en-US" sz="1300" dirty="0"/>
          </a:p>
        </p:txBody>
      </p:sp>
      <p:sp>
        <p:nvSpPr>
          <p:cNvPr id="14" name="Text 11"/>
          <p:cNvSpPr/>
          <p:nvPr/>
        </p:nvSpPr>
        <p:spPr>
          <a:xfrm>
            <a:off x="578406" y="5294693"/>
            <a:ext cx="6535222" cy="264319"/>
          </a:xfrm>
          <a:prstGeom prst="rect">
            <a:avLst/>
          </a:prstGeom>
          <a:noFill/>
          <a:ln/>
        </p:spPr>
        <p:txBody>
          <a:bodyPr wrap="none" lIns="0" tIns="0" rIns="0" bIns="0" rtlCol="0" anchor="t"/>
          <a:lstStyle/>
          <a:p>
            <a:pPr marL="342900" indent="-342900" algn="l">
              <a:lnSpc>
                <a:spcPts val="2050"/>
              </a:lnSpc>
              <a:buSzPct val="100000"/>
              <a:buChar char="•"/>
            </a:pPr>
            <a:r>
              <a:rPr lang="en-US" sz="1300" dirty="0">
                <a:solidFill>
                  <a:srgbClr val="C7CDD6"/>
                </a:solidFill>
                <a:latin typeface="Inter" pitchFamily="34" charset="0"/>
                <a:ea typeface="Inter" pitchFamily="34" charset="-122"/>
                <a:cs typeface="Inter" pitchFamily="34" charset="-120"/>
              </a:rPr>
              <a:t>Exercise-induced angina</a:t>
            </a:r>
            <a:endParaRPr lang="en-US" sz="1300" dirty="0"/>
          </a:p>
        </p:txBody>
      </p:sp>
      <p:sp>
        <p:nvSpPr>
          <p:cNvPr id="15" name="Text 12"/>
          <p:cNvSpPr/>
          <p:nvPr/>
        </p:nvSpPr>
        <p:spPr>
          <a:xfrm>
            <a:off x="578406" y="5577821"/>
            <a:ext cx="6535222" cy="264319"/>
          </a:xfrm>
          <a:prstGeom prst="rect">
            <a:avLst/>
          </a:prstGeom>
          <a:noFill/>
          <a:ln/>
        </p:spPr>
        <p:txBody>
          <a:bodyPr wrap="none" lIns="0" tIns="0" rIns="0" bIns="0" rtlCol="0" anchor="t"/>
          <a:lstStyle/>
          <a:p>
            <a:pPr marL="342900" indent="-342900" algn="l">
              <a:lnSpc>
                <a:spcPts val="2050"/>
              </a:lnSpc>
              <a:buSzPct val="100000"/>
              <a:buChar char="•"/>
            </a:pPr>
            <a:r>
              <a:rPr lang="en-US" sz="1300" dirty="0">
                <a:solidFill>
                  <a:srgbClr val="C7CDD6"/>
                </a:solidFill>
                <a:latin typeface="Inter" pitchFamily="34" charset="0"/>
                <a:ea typeface="Inter" pitchFamily="34" charset="-122"/>
                <a:cs typeface="Inter" pitchFamily="34" charset="-120"/>
              </a:rPr>
              <a:t>ECG abnormalities</a:t>
            </a:r>
            <a:endParaRPr lang="en-US" sz="1300" dirty="0"/>
          </a:p>
        </p:txBody>
      </p:sp>
      <p:sp>
        <p:nvSpPr>
          <p:cNvPr id="16" name="Text 13"/>
          <p:cNvSpPr/>
          <p:nvPr/>
        </p:nvSpPr>
        <p:spPr>
          <a:xfrm>
            <a:off x="578406" y="5856925"/>
            <a:ext cx="6535222" cy="264319"/>
          </a:xfrm>
          <a:prstGeom prst="rect">
            <a:avLst/>
          </a:prstGeom>
          <a:noFill/>
          <a:ln/>
        </p:spPr>
        <p:txBody>
          <a:bodyPr wrap="none" lIns="0" tIns="0" rIns="0" bIns="0" rtlCol="0" anchor="t"/>
          <a:lstStyle/>
          <a:p>
            <a:pPr marL="342900" indent="-342900" algn="l">
              <a:lnSpc>
                <a:spcPts val="2050"/>
              </a:lnSpc>
              <a:buSzPct val="100000"/>
              <a:buChar char="•"/>
            </a:pPr>
            <a:r>
              <a:rPr lang="en-US" sz="1300" dirty="0">
                <a:solidFill>
                  <a:srgbClr val="C7CDD6"/>
                </a:solidFill>
                <a:latin typeface="Inter" pitchFamily="34" charset="0"/>
                <a:ea typeface="Inter" pitchFamily="34" charset="-122"/>
                <a:cs typeface="Inter" pitchFamily="34" charset="-120"/>
              </a:rPr>
              <a:t>ST depression measurements</a:t>
            </a:r>
            <a:endParaRPr lang="en-US" sz="1300" dirty="0"/>
          </a:p>
        </p:txBody>
      </p:sp>
      <p:sp>
        <p:nvSpPr>
          <p:cNvPr id="17" name="Text 14"/>
          <p:cNvSpPr/>
          <p:nvPr/>
        </p:nvSpPr>
        <p:spPr>
          <a:xfrm>
            <a:off x="578406" y="6131331"/>
            <a:ext cx="6535222" cy="264319"/>
          </a:xfrm>
          <a:prstGeom prst="rect">
            <a:avLst/>
          </a:prstGeom>
          <a:noFill/>
          <a:ln/>
        </p:spPr>
        <p:txBody>
          <a:bodyPr wrap="none" lIns="0" tIns="0" rIns="0" bIns="0" rtlCol="0" anchor="t"/>
          <a:lstStyle/>
          <a:p>
            <a:pPr marL="342900" indent="-342900" algn="l">
              <a:lnSpc>
                <a:spcPts val="2050"/>
              </a:lnSpc>
              <a:buSzPct val="100000"/>
              <a:buChar char="•"/>
            </a:pPr>
            <a:r>
              <a:rPr lang="en-US" sz="1300" dirty="0">
                <a:solidFill>
                  <a:srgbClr val="C7CDD6"/>
                </a:solidFill>
                <a:latin typeface="Inter" pitchFamily="34" charset="0"/>
                <a:ea typeface="Inter" pitchFamily="34" charset="-122"/>
                <a:cs typeface="Inter" pitchFamily="34" charset="-120"/>
              </a:rPr>
              <a:t>Major vessel involvement</a:t>
            </a:r>
            <a:endParaRPr lang="en-US" sz="1300" dirty="0"/>
          </a:p>
        </p:txBody>
      </p:sp>
      <p:pic>
        <p:nvPicPr>
          <p:cNvPr id="19" name="Picture 18">
            <a:extLst>
              <a:ext uri="{FF2B5EF4-FFF2-40B4-BE49-F238E27FC236}">
                <a16:creationId xmlns:a16="http://schemas.microsoft.com/office/drawing/2014/main" id="{E606D82C-E9A4-DE7C-9B83-03E4071AC350}"/>
              </a:ext>
            </a:extLst>
          </p:cNvPr>
          <p:cNvPicPr>
            <a:picLocks noChangeAspect="1"/>
          </p:cNvPicPr>
          <p:nvPr/>
        </p:nvPicPr>
        <p:blipFill>
          <a:blip r:embed="rId4"/>
          <a:stretch>
            <a:fillRect/>
          </a:stretch>
        </p:blipFill>
        <p:spPr>
          <a:xfrm>
            <a:off x="12645681" y="7803215"/>
            <a:ext cx="1876687" cy="40010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1495544"/>
            <a:ext cx="6747629" cy="708779"/>
          </a:xfrm>
          <a:prstGeom prst="rect">
            <a:avLst/>
          </a:prstGeom>
          <a:noFill/>
          <a:ln/>
        </p:spPr>
        <p:txBody>
          <a:bodyPr wrap="none" lIns="0" tIns="0" rIns="0" bIns="0" rtlCol="0" anchor="t"/>
          <a:lstStyle/>
          <a:p>
            <a:pPr marL="0" indent="0" algn="l">
              <a:lnSpc>
                <a:spcPts val="5550"/>
              </a:lnSpc>
              <a:buNone/>
            </a:pPr>
            <a:r>
              <a:rPr lang="en-US" sz="4450" dirty="0">
                <a:solidFill>
                  <a:schemeClr val="bg1"/>
                </a:solidFill>
                <a:latin typeface="Instrument Sans Medium" pitchFamily="34" charset="0"/>
                <a:ea typeface="Instrument Sans Medium" pitchFamily="34" charset="-122"/>
                <a:cs typeface="Instrument Sans Medium" pitchFamily="34" charset="-120"/>
              </a:rPr>
              <a:t>Clinical Impact &amp; Benefits</a:t>
            </a:r>
            <a:endParaRPr lang="en-US" sz="4450" dirty="0">
              <a:solidFill>
                <a:schemeClr val="bg1"/>
              </a:solidFill>
            </a:endParaRPr>
          </a:p>
        </p:txBody>
      </p:sp>
      <p:pic>
        <p:nvPicPr>
          <p:cNvPr id="3" name="Image 0" descr="preencoded.png"/>
          <p:cNvPicPr>
            <a:picLocks noChangeAspect="1"/>
          </p:cNvPicPr>
          <p:nvPr/>
        </p:nvPicPr>
        <p:blipFill>
          <a:blip r:embed="rId3"/>
          <a:stretch>
            <a:fillRect/>
          </a:stretch>
        </p:blipFill>
        <p:spPr>
          <a:xfrm>
            <a:off x="793790" y="2657951"/>
            <a:ext cx="2994184" cy="1850469"/>
          </a:xfrm>
          <a:prstGeom prst="rect">
            <a:avLst/>
          </a:prstGeom>
        </p:spPr>
      </p:pic>
      <p:sp>
        <p:nvSpPr>
          <p:cNvPr id="4" name="Text 1"/>
          <p:cNvSpPr/>
          <p:nvPr/>
        </p:nvSpPr>
        <p:spPr>
          <a:xfrm>
            <a:off x="793790" y="4791908"/>
            <a:ext cx="2948464" cy="354330"/>
          </a:xfrm>
          <a:prstGeom prst="rect">
            <a:avLst/>
          </a:prstGeom>
          <a:noFill/>
          <a:ln/>
        </p:spPr>
        <p:txBody>
          <a:bodyPr wrap="none" lIns="0" tIns="0" rIns="0" bIns="0" rtlCol="0" anchor="t"/>
          <a:lstStyle/>
          <a:p>
            <a:pPr marL="0" indent="0" algn="l">
              <a:lnSpc>
                <a:spcPts val="2750"/>
              </a:lnSpc>
              <a:buNone/>
            </a:pPr>
            <a:r>
              <a:rPr lang="en-US" sz="2200" dirty="0">
                <a:solidFill>
                  <a:srgbClr val="C7CDD6"/>
                </a:solidFill>
                <a:latin typeface="Instrument Sans Medium" pitchFamily="34" charset="0"/>
                <a:ea typeface="Instrument Sans Medium" pitchFamily="34" charset="-122"/>
                <a:cs typeface="Instrument Sans Medium" pitchFamily="34" charset="-120"/>
              </a:rPr>
              <a:t>Enhanced Diagnostics</a:t>
            </a:r>
            <a:endParaRPr lang="en-US" sz="2200" dirty="0"/>
          </a:p>
        </p:txBody>
      </p:sp>
      <p:sp>
        <p:nvSpPr>
          <p:cNvPr id="5" name="Text 2"/>
          <p:cNvSpPr/>
          <p:nvPr/>
        </p:nvSpPr>
        <p:spPr>
          <a:xfrm>
            <a:off x="793790" y="5282327"/>
            <a:ext cx="4158615" cy="1088708"/>
          </a:xfrm>
          <a:prstGeom prst="rect">
            <a:avLst/>
          </a:prstGeom>
          <a:noFill/>
          <a:ln/>
        </p:spPr>
        <p:txBody>
          <a:bodyPr wrap="square" lIns="0" tIns="0" rIns="0" bIns="0" rtlCol="0" anchor="t"/>
          <a:lstStyle/>
          <a:p>
            <a:pPr marL="0" indent="0" algn="l">
              <a:lnSpc>
                <a:spcPts val="2850"/>
              </a:lnSpc>
              <a:buNone/>
            </a:pPr>
            <a:r>
              <a:rPr lang="en-US" sz="1750" dirty="0">
                <a:solidFill>
                  <a:srgbClr val="C7CDD6"/>
                </a:solidFill>
                <a:latin typeface="Inter" pitchFamily="34" charset="0"/>
                <a:ea typeface="Inter" pitchFamily="34" charset="-122"/>
                <a:cs typeface="Inter" pitchFamily="34" charset="-120"/>
              </a:rPr>
              <a:t>Supports clinical decision-making with evidence-based risk stratification and diagnostic confidence intervals</a:t>
            </a:r>
            <a:endParaRPr lang="en-US" sz="1750" dirty="0"/>
          </a:p>
        </p:txBody>
      </p:sp>
      <p:sp>
        <p:nvSpPr>
          <p:cNvPr id="7" name="Text 3"/>
          <p:cNvSpPr/>
          <p:nvPr/>
        </p:nvSpPr>
        <p:spPr>
          <a:xfrm>
            <a:off x="5235893" y="479190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C7CDD6"/>
                </a:solidFill>
                <a:latin typeface="Instrument Sans Medium" pitchFamily="34" charset="0"/>
                <a:ea typeface="Instrument Sans Medium" pitchFamily="34" charset="-122"/>
                <a:cs typeface="Instrument Sans Medium" pitchFamily="34" charset="-120"/>
              </a:rPr>
              <a:t>Improved Access</a:t>
            </a:r>
            <a:endParaRPr lang="en-US" sz="2200" dirty="0"/>
          </a:p>
        </p:txBody>
      </p:sp>
      <p:sp>
        <p:nvSpPr>
          <p:cNvPr id="8" name="Text 4"/>
          <p:cNvSpPr/>
          <p:nvPr/>
        </p:nvSpPr>
        <p:spPr>
          <a:xfrm>
            <a:off x="5235893" y="5282327"/>
            <a:ext cx="4158615" cy="1451610"/>
          </a:xfrm>
          <a:prstGeom prst="rect">
            <a:avLst/>
          </a:prstGeom>
          <a:noFill/>
          <a:ln/>
        </p:spPr>
        <p:txBody>
          <a:bodyPr wrap="square" lIns="0" tIns="0" rIns="0" bIns="0" rtlCol="0" anchor="t"/>
          <a:lstStyle/>
          <a:p>
            <a:pPr marL="0" indent="0" algn="l">
              <a:lnSpc>
                <a:spcPts val="2850"/>
              </a:lnSpc>
              <a:buNone/>
            </a:pPr>
            <a:r>
              <a:rPr lang="en-US" sz="1750" dirty="0">
                <a:solidFill>
                  <a:srgbClr val="C7CDD6"/>
                </a:solidFill>
                <a:latin typeface="Inter" pitchFamily="34" charset="0"/>
                <a:ea typeface="Inter" pitchFamily="34" charset="-122"/>
                <a:cs typeface="Inter" pitchFamily="34" charset="-120"/>
              </a:rPr>
              <a:t>Extends specialist-level screening capabilities to underserved communities and primary care settings</a:t>
            </a:r>
            <a:endParaRPr lang="en-US" sz="1750" dirty="0"/>
          </a:p>
        </p:txBody>
      </p:sp>
      <p:pic>
        <p:nvPicPr>
          <p:cNvPr id="9" name="Image 2" descr="preencoded.png"/>
          <p:cNvPicPr>
            <a:picLocks noChangeAspect="1"/>
          </p:cNvPicPr>
          <p:nvPr/>
        </p:nvPicPr>
        <p:blipFill>
          <a:blip r:embed="rId4"/>
          <a:stretch>
            <a:fillRect/>
          </a:stretch>
        </p:blipFill>
        <p:spPr>
          <a:xfrm>
            <a:off x="9677995" y="2657951"/>
            <a:ext cx="2994184" cy="1850469"/>
          </a:xfrm>
          <a:prstGeom prst="rect">
            <a:avLst/>
          </a:prstGeom>
        </p:spPr>
      </p:pic>
      <p:sp>
        <p:nvSpPr>
          <p:cNvPr id="10" name="Text 5"/>
          <p:cNvSpPr/>
          <p:nvPr/>
        </p:nvSpPr>
        <p:spPr>
          <a:xfrm>
            <a:off x="9677995" y="479190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C7CDD6"/>
                </a:solidFill>
                <a:latin typeface="Instrument Sans Medium" pitchFamily="34" charset="0"/>
                <a:ea typeface="Instrument Sans Medium" pitchFamily="34" charset="-122"/>
                <a:cs typeface="Instrument Sans Medium" pitchFamily="34" charset="-120"/>
              </a:rPr>
              <a:t>Preventive Care</a:t>
            </a:r>
            <a:endParaRPr lang="en-US" sz="2200" dirty="0"/>
          </a:p>
        </p:txBody>
      </p:sp>
      <p:sp>
        <p:nvSpPr>
          <p:cNvPr id="11" name="Text 6"/>
          <p:cNvSpPr/>
          <p:nvPr/>
        </p:nvSpPr>
        <p:spPr>
          <a:xfrm>
            <a:off x="9677995" y="5282327"/>
            <a:ext cx="4158615" cy="1451610"/>
          </a:xfrm>
          <a:prstGeom prst="rect">
            <a:avLst/>
          </a:prstGeom>
          <a:noFill/>
          <a:ln/>
        </p:spPr>
        <p:txBody>
          <a:bodyPr wrap="square" lIns="0" tIns="0" rIns="0" bIns="0" rtlCol="0" anchor="t"/>
          <a:lstStyle/>
          <a:p>
            <a:pPr marL="0" indent="0" algn="l">
              <a:lnSpc>
                <a:spcPts val="2850"/>
              </a:lnSpc>
              <a:buNone/>
            </a:pPr>
            <a:r>
              <a:rPr lang="en-US" sz="1750" dirty="0">
                <a:solidFill>
                  <a:srgbClr val="C7CDD6"/>
                </a:solidFill>
                <a:latin typeface="Inter" pitchFamily="34" charset="0"/>
                <a:ea typeface="Inter" pitchFamily="34" charset="-122"/>
                <a:cs typeface="Inter" pitchFamily="34" charset="-120"/>
              </a:rPr>
              <a:t>Enables proactive intervention strategies, potentially preventing acute cardiovascular events and hospitalisations</a:t>
            </a:r>
            <a:endParaRPr lang="en-US" sz="1750" dirty="0"/>
          </a:p>
        </p:txBody>
      </p:sp>
      <p:pic>
        <p:nvPicPr>
          <p:cNvPr id="13" name="Picture 12">
            <a:extLst>
              <a:ext uri="{FF2B5EF4-FFF2-40B4-BE49-F238E27FC236}">
                <a16:creationId xmlns:a16="http://schemas.microsoft.com/office/drawing/2014/main" id="{B6B6F3AB-1746-4DED-A36D-269C24BAFCC2}"/>
              </a:ext>
            </a:extLst>
          </p:cNvPr>
          <p:cNvPicPr>
            <a:picLocks noChangeAspect="1"/>
          </p:cNvPicPr>
          <p:nvPr/>
        </p:nvPicPr>
        <p:blipFill>
          <a:blip r:embed="rId5"/>
          <a:stretch>
            <a:fillRect/>
          </a:stretch>
        </p:blipFill>
        <p:spPr>
          <a:xfrm>
            <a:off x="12672179" y="7777647"/>
            <a:ext cx="1876687" cy="400106"/>
          </a:xfrm>
          <a:prstGeom prst="rect">
            <a:avLst/>
          </a:prstGeom>
        </p:spPr>
      </p:pic>
      <p:pic>
        <p:nvPicPr>
          <p:cNvPr id="12" name="Picture 11">
            <a:extLst>
              <a:ext uri="{FF2B5EF4-FFF2-40B4-BE49-F238E27FC236}">
                <a16:creationId xmlns:a16="http://schemas.microsoft.com/office/drawing/2014/main" id="{5CBE74B1-C700-FBBC-0BDC-84862B5978D2}"/>
              </a:ext>
            </a:extLst>
          </p:cNvPr>
          <p:cNvPicPr>
            <a:picLocks noChangeAspect="1"/>
          </p:cNvPicPr>
          <p:nvPr/>
        </p:nvPicPr>
        <p:blipFill>
          <a:blip r:embed="rId6"/>
          <a:stretch>
            <a:fillRect/>
          </a:stretch>
        </p:blipFill>
        <p:spPr>
          <a:xfrm>
            <a:off x="4999539" y="2312342"/>
            <a:ext cx="3572374" cy="234347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p:nvPr/>
        </p:nvSpPr>
        <p:spPr>
          <a:xfrm>
            <a:off x="6186011" y="725210"/>
            <a:ext cx="7226856" cy="624602"/>
          </a:xfrm>
          <a:prstGeom prst="rect">
            <a:avLst/>
          </a:prstGeom>
          <a:noFill/>
          <a:ln/>
        </p:spPr>
        <p:txBody>
          <a:bodyPr wrap="none" lIns="0" tIns="0" rIns="0" bIns="0" rtlCol="0" anchor="t"/>
          <a:lstStyle/>
          <a:p>
            <a:pPr marL="0" indent="0" algn="l">
              <a:lnSpc>
                <a:spcPts val="4900"/>
              </a:lnSpc>
              <a:buNone/>
            </a:pPr>
            <a:r>
              <a:rPr lang="en-US" sz="3900" dirty="0">
                <a:solidFill>
                  <a:schemeClr val="bg1"/>
                </a:solidFill>
                <a:latin typeface="Instrument Sans Medium" pitchFamily="34" charset="0"/>
                <a:ea typeface="Instrument Sans Medium" pitchFamily="34" charset="-122"/>
                <a:cs typeface="Instrument Sans Medium" pitchFamily="34" charset="-120"/>
              </a:rPr>
              <a:t>Future Directions &amp; Conclusion</a:t>
            </a:r>
            <a:endParaRPr lang="en-US" sz="3900" dirty="0">
              <a:solidFill>
                <a:schemeClr val="bg1"/>
              </a:solidFill>
            </a:endParaRPr>
          </a:p>
        </p:txBody>
      </p:sp>
      <p:sp>
        <p:nvSpPr>
          <p:cNvPr id="5" name="Text 2"/>
          <p:cNvSpPr/>
          <p:nvPr/>
        </p:nvSpPr>
        <p:spPr>
          <a:xfrm>
            <a:off x="6835497" y="1718310"/>
            <a:ext cx="2498646" cy="312301"/>
          </a:xfrm>
          <a:prstGeom prst="rect">
            <a:avLst/>
          </a:prstGeom>
          <a:noFill/>
          <a:ln/>
        </p:spPr>
        <p:txBody>
          <a:bodyPr wrap="none" lIns="0" tIns="0" rIns="0" bIns="0" rtlCol="0" anchor="t"/>
          <a:lstStyle/>
          <a:p>
            <a:pPr algn="l">
              <a:lnSpc>
                <a:spcPts val="2450"/>
              </a:lnSpc>
            </a:pPr>
            <a:r>
              <a:rPr lang="en-US" sz="1950" dirty="0">
                <a:solidFill>
                  <a:srgbClr val="C7CDD6"/>
                </a:solidFill>
                <a:latin typeface="Instrument Sans Medium" pitchFamily="34" charset="0"/>
                <a:ea typeface="Instrument Sans Medium" pitchFamily="34" charset="-122"/>
                <a:cs typeface="Instrument Sans Medium" pitchFamily="34" charset="-120"/>
              </a:rPr>
              <a:t>1. Validation Studies</a:t>
            </a:r>
            <a:endParaRPr lang="en-US" sz="1950" dirty="0"/>
          </a:p>
        </p:txBody>
      </p:sp>
      <p:sp>
        <p:nvSpPr>
          <p:cNvPr id="6" name="Text 3"/>
          <p:cNvSpPr/>
          <p:nvPr/>
        </p:nvSpPr>
        <p:spPr>
          <a:xfrm>
            <a:off x="6835497" y="2150507"/>
            <a:ext cx="7095292" cy="639604"/>
          </a:xfrm>
          <a:prstGeom prst="rect">
            <a:avLst/>
          </a:prstGeom>
          <a:noFill/>
          <a:ln/>
        </p:spPr>
        <p:txBody>
          <a:bodyPr wrap="square" lIns="0" tIns="0" rIns="0" bIns="0" rtlCol="0" anchor="t"/>
          <a:lstStyle/>
          <a:p>
            <a:pPr marL="0" indent="0" algn="l">
              <a:lnSpc>
                <a:spcPts val="2500"/>
              </a:lnSpc>
              <a:buNone/>
            </a:pPr>
            <a:r>
              <a:rPr lang="en-US" sz="1550" dirty="0">
                <a:solidFill>
                  <a:srgbClr val="C7CDD6"/>
                </a:solidFill>
                <a:latin typeface="Inter" pitchFamily="34" charset="0"/>
                <a:ea typeface="Inter" pitchFamily="34" charset="-122"/>
                <a:cs typeface="Inter" pitchFamily="34" charset="-120"/>
              </a:rPr>
              <a:t>Multi-centre clinical trials to validate model performance across diverse patient populations</a:t>
            </a:r>
            <a:endParaRPr lang="en-US" sz="1550" dirty="0"/>
          </a:p>
        </p:txBody>
      </p:sp>
      <p:sp>
        <p:nvSpPr>
          <p:cNvPr id="8" name="Text 5"/>
          <p:cNvSpPr/>
          <p:nvPr/>
        </p:nvSpPr>
        <p:spPr>
          <a:xfrm>
            <a:off x="6835497" y="3258502"/>
            <a:ext cx="2498646" cy="312301"/>
          </a:xfrm>
          <a:prstGeom prst="rect">
            <a:avLst/>
          </a:prstGeom>
          <a:noFill/>
          <a:ln/>
        </p:spPr>
        <p:txBody>
          <a:bodyPr wrap="none" lIns="0" tIns="0" rIns="0" bIns="0" rtlCol="0" anchor="t"/>
          <a:lstStyle/>
          <a:p>
            <a:pPr marL="0" indent="0" algn="l">
              <a:lnSpc>
                <a:spcPts val="2450"/>
              </a:lnSpc>
              <a:buNone/>
            </a:pPr>
            <a:r>
              <a:rPr lang="en-US" sz="1950" dirty="0">
                <a:solidFill>
                  <a:srgbClr val="C7CDD6"/>
                </a:solidFill>
                <a:latin typeface="Instrument Sans Medium" pitchFamily="34" charset="0"/>
                <a:ea typeface="Instrument Sans Medium" pitchFamily="34" charset="-122"/>
                <a:cs typeface="Instrument Sans Medium" pitchFamily="34" charset="-120"/>
              </a:rPr>
              <a:t>2. Integration Pathways</a:t>
            </a:r>
            <a:endParaRPr lang="en-US" sz="1950" dirty="0"/>
          </a:p>
        </p:txBody>
      </p:sp>
      <p:sp>
        <p:nvSpPr>
          <p:cNvPr id="9" name="Text 6"/>
          <p:cNvSpPr/>
          <p:nvPr/>
        </p:nvSpPr>
        <p:spPr>
          <a:xfrm>
            <a:off x="6835497" y="3690699"/>
            <a:ext cx="7095292" cy="639604"/>
          </a:xfrm>
          <a:prstGeom prst="rect">
            <a:avLst/>
          </a:prstGeom>
          <a:noFill/>
          <a:ln/>
        </p:spPr>
        <p:txBody>
          <a:bodyPr wrap="square" lIns="0" tIns="0" rIns="0" bIns="0" rtlCol="0" anchor="t"/>
          <a:lstStyle/>
          <a:p>
            <a:pPr marL="0" indent="0" algn="l">
              <a:lnSpc>
                <a:spcPts val="2500"/>
              </a:lnSpc>
              <a:buNone/>
            </a:pPr>
            <a:r>
              <a:rPr lang="en-US" sz="1550" dirty="0">
                <a:solidFill>
                  <a:srgbClr val="C7CDD6"/>
                </a:solidFill>
                <a:latin typeface="Inter" pitchFamily="34" charset="0"/>
                <a:ea typeface="Inter" pitchFamily="34" charset="-122"/>
                <a:cs typeface="Inter" pitchFamily="34" charset="-120"/>
              </a:rPr>
              <a:t>Electronic health record integration and mobile health platform development</a:t>
            </a:r>
            <a:endParaRPr lang="en-US" sz="1550" dirty="0"/>
          </a:p>
        </p:txBody>
      </p:sp>
      <p:sp>
        <p:nvSpPr>
          <p:cNvPr id="11" name="Text 8"/>
          <p:cNvSpPr/>
          <p:nvPr/>
        </p:nvSpPr>
        <p:spPr>
          <a:xfrm>
            <a:off x="6835497" y="4798695"/>
            <a:ext cx="2498646" cy="312301"/>
          </a:xfrm>
          <a:prstGeom prst="rect">
            <a:avLst/>
          </a:prstGeom>
          <a:noFill/>
          <a:ln/>
        </p:spPr>
        <p:txBody>
          <a:bodyPr wrap="none" lIns="0" tIns="0" rIns="0" bIns="0" rtlCol="0" anchor="t"/>
          <a:lstStyle/>
          <a:p>
            <a:pPr marL="0" indent="0" algn="l">
              <a:lnSpc>
                <a:spcPts val="2450"/>
              </a:lnSpc>
              <a:buNone/>
            </a:pPr>
            <a:r>
              <a:rPr lang="en-US" sz="1950" dirty="0">
                <a:solidFill>
                  <a:srgbClr val="C7CDD6"/>
                </a:solidFill>
                <a:latin typeface="Instrument Sans Medium" pitchFamily="34" charset="0"/>
                <a:ea typeface="Instrument Sans Medium" pitchFamily="34" charset="-122"/>
                <a:cs typeface="Instrument Sans Medium" pitchFamily="34" charset="-120"/>
              </a:rPr>
              <a:t>3. Regulatory Approval</a:t>
            </a:r>
            <a:endParaRPr lang="en-US" sz="1950" dirty="0"/>
          </a:p>
        </p:txBody>
      </p:sp>
      <p:sp>
        <p:nvSpPr>
          <p:cNvPr id="12" name="Text 9"/>
          <p:cNvSpPr/>
          <p:nvPr/>
        </p:nvSpPr>
        <p:spPr>
          <a:xfrm>
            <a:off x="6835497" y="5230892"/>
            <a:ext cx="7095292" cy="639604"/>
          </a:xfrm>
          <a:prstGeom prst="rect">
            <a:avLst/>
          </a:prstGeom>
          <a:noFill/>
          <a:ln/>
        </p:spPr>
        <p:txBody>
          <a:bodyPr wrap="square" lIns="0" tIns="0" rIns="0" bIns="0" rtlCol="0" anchor="t"/>
          <a:lstStyle/>
          <a:p>
            <a:pPr marL="0" indent="0" algn="l">
              <a:lnSpc>
                <a:spcPts val="2500"/>
              </a:lnSpc>
              <a:buNone/>
            </a:pPr>
            <a:r>
              <a:rPr lang="en-US" sz="1550" dirty="0">
                <a:solidFill>
                  <a:srgbClr val="C7CDD6"/>
                </a:solidFill>
                <a:latin typeface="Inter" pitchFamily="34" charset="0"/>
                <a:ea typeface="Inter" pitchFamily="34" charset="-122"/>
                <a:cs typeface="Inter" pitchFamily="34" charset="-120"/>
              </a:rPr>
              <a:t>Pursuing medical device certification for clinical deployment and widespread adoption</a:t>
            </a:r>
            <a:endParaRPr lang="en-US" sz="1550" dirty="0"/>
          </a:p>
        </p:txBody>
      </p:sp>
      <p:sp>
        <p:nvSpPr>
          <p:cNvPr id="13" name="Text 10"/>
          <p:cNvSpPr/>
          <p:nvPr/>
        </p:nvSpPr>
        <p:spPr>
          <a:xfrm>
            <a:off x="6485811" y="6320076"/>
            <a:ext cx="7444978" cy="959406"/>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highlight>
                  <a:srgbClr val="FDC4C4"/>
                </a:highlight>
                <a:latin typeface="Inter" pitchFamily="34" charset="0"/>
                <a:ea typeface="Inter" pitchFamily="34" charset="-122"/>
                <a:cs typeface="Inter" pitchFamily="34" charset="-120"/>
              </a:rPr>
              <a:t>Machine learning represents a paradigm shift towards predictive, personalised cardiovascular medicine</a:t>
            </a:r>
            <a:r>
              <a:rPr lang="en-US" sz="1550" dirty="0">
                <a:solidFill>
                  <a:srgbClr val="C7CDD6"/>
                </a:solidFill>
                <a:latin typeface="Inter" pitchFamily="34" charset="0"/>
                <a:ea typeface="Inter" pitchFamily="34" charset="-122"/>
                <a:cs typeface="Inter" pitchFamily="34" charset="-120"/>
              </a:rPr>
              <a:t> - enabling earlier intervention and improved patient outcomes through accessible, evidence-based risk assessment tools.</a:t>
            </a:r>
            <a:endParaRPr lang="en-US" sz="1550" dirty="0"/>
          </a:p>
        </p:txBody>
      </p:sp>
      <p:sp>
        <p:nvSpPr>
          <p:cNvPr id="14" name="Shape 11"/>
          <p:cNvSpPr/>
          <p:nvPr/>
        </p:nvSpPr>
        <p:spPr>
          <a:xfrm>
            <a:off x="6186011" y="6095286"/>
            <a:ext cx="22860" cy="1408986"/>
          </a:xfrm>
          <a:prstGeom prst="rect">
            <a:avLst/>
          </a:prstGeom>
          <a:solidFill>
            <a:srgbClr val="FDC4C4"/>
          </a:solidFill>
          <a:ln/>
        </p:spPr>
      </p:sp>
      <p:pic>
        <p:nvPicPr>
          <p:cNvPr id="16" name="Picture 15">
            <a:extLst>
              <a:ext uri="{FF2B5EF4-FFF2-40B4-BE49-F238E27FC236}">
                <a16:creationId xmlns:a16="http://schemas.microsoft.com/office/drawing/2014/main" id="{D6ECF944-DC9B-889D-CC2B-308C2805E228}"/>
              </a:ext>
            </a:extLst>
          </p:cNvPr>
          <p:cNvPicPr>
            <a:picLocks noChangeAspect="1"/>
          </p:cNvPicPr>
          <p:nvPr/>
        </p:nvPicPr>
        <p:blipFill>
          <a:blip r:embed="rId3"/>
          <a:stretch>
            <a:fillRect/>
          </a:stretch>
        </p:blipFill>
        <p:spPr>
          <a:xfrm>
            <a:off x="12617401" y="7805927"/>
            <a:ext cx="1876687" cy="400106"/>
          </a:xfrm>
          <a:prstGeom prst="rect">
            <a:avLst/>
          </a:prstGeom>
        </p:spPr>
      </p:pic>
      <p:pic>
        <p:nvPicPr>
          <p:cNvPr id="20" name="Picture 19">
            <a:extLst>
              <a:ext uri="{FF2B5EF4-FFF2-40B4-BE49-F238E27FC236}">
                <a16:creationId xmlns:a16="http://schemas.microsoft.com/office/drawing/2014/main" id="{7D9DAE28-3D28-5FE4-E58E-35F81F0D0F5C}"/>
              </a:ext>
            </a:extLst>
          </p:cNvPr>
          <p:cNvPicPr>
            <a:picLocks noChangeAspect="1"/>
          </p:cNvPicPr>
          <p:nvPr/>
        </p:nvPicPr>
        <p:blipFill rotWithShape="1">
          <a:blip r:embed="rId4"/>
          <a:srcRect l="14155" t="2483" r="15998" b="-2483"/>
          <a:stretch/>
        </p:blipFill>
        <p:spPr>
          <a:xfrm>
            <a:off x="376928" y="1673471"/>
            <a:ext cx="4369575" cy="467406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39</TotalTime>
  <Words>543</Words>
  <Application>Microsoft Office PowerPoint</Application>
  <PresentationFormat>Custom</PresentationFormat>
  <Paragraphs>87</Paragraphs>
  <Slides>9</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Calibri</vt:lpstr>
      <vt:lpstr>Inter</vt:lpstr>
      <vt:lpstr>Times New Roman</vt:lpstr>
      <vt:lpstr>Instrument Sans Medium</vt:lpstr>
      <vt:lpstr>Arial</vt:lpstr>
      <vt:lpstr>Aptos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Hemendra Kumar RR</dc:creator>
  <cp:lastModifiedBy>Hemendra Kumar RR</cp:lastModifiedBy>
  <cp:revision>8</cp:revision>
  <dcterms:created xsi:type="dcterms:W3CDTF">2025-09-26T11:41:27Z</dcterms:created>
  <dcterms:modified xsi:type="dcterms:W3CDTF">2026-03-29T10:51:44Z</dcterms:modified>
</cp:coreProperties>
</file>